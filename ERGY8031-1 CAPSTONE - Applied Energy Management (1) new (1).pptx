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9" r:id="rId12"/>
    <p:sldId id="267" r:id="rId13"/>
    <p:sldId id="268" r:id="rId14"/>
    <p:sldId id="269" r:id="rId15"/>
    <p:sldId id="270" r:id="rId16"/>
    <p:sldId id="278" r:id="rId17"/>
    <p:sldId id="277" r:id="rId18"/>
    <p:sldId id="271" r:id="rId19"/>
    <p:sldId id="272" r:id="rId20"/>
    <p:sldId id="273" r:id="rId21"/>
    <p:sldId id="274" r:id="rId22"/>
  </p:sldIdLst>
  <p:sldSz cx="18288000" cy="10287000"/>
  <p:notesSz cx="6858000" cy="9144000"/>
  <p:embeddedFontLst>
    <p:embeddedFont>
      <p:font typeface="Aristotelica Pro" panose="020B0604020202020204" charset="0"/>
      <p:regular r:id="rId23"/>
    </p:embeddedFont>
    <p:embeddedFont>
      <p:font typeface="Aristotelica Pro Bold" panose="020B0604020202020204" charset="0"/>
      <p:regular r:id="rId24"/>
    </p:embeddedFont>
    <p:embeddedFont>
      <p:font typeface="Ballpoint" panose="020B0604020202020204" charset="0"/>
      <p:regular r:id="rId25"/>
    </p:embeddedFont>
    <p:embeddedFont>
      <p:font typeface="DM Sans" pitchFamily="2" charset="0"/>
      <p:regular r:id="rId26"/>
    </p:embeddedFont>
    <p:embeddedFont>
      <p:font typeface="DM Sans Bold" panose="020B0604020202020204" charset="0"/>
      <p:regular r:id="rId27"/>
    </p:embeddedFont>
    <p:embeddedFont>
      <p:font typeface="Garet Bold" panose="020B0604020202020204" charset="0"/>
      <p:regular r:id="rId28"/>
    </p:embeddedFont>
    <p:embeddedFont>
      <p:font typeface="Open Sans Bold" panose="020B0604020202020204" charset="0"/>
      <p:regular r:id="rId29"/>
    </p:embeddedFont>
    <p:embeddedFont>
      <p:font typeface="Oswald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94739-1DEB-4C73-A85E-08C3489C8582}" v="3" dt="2025-12-11T20:58:34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44.png"/><Relationship Id="rId7" Type="http://schemas.openxmlformats.org/officeDocument/2006/relationships/image" Target="../media/image5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44.png"/><Relationship Id="rId7" Type="http://schemas.openxmlformats.org/officeDocument/2006/relationships/image" Target="../media/image5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45.sv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44.png"/><Relationship Id="rId7" Type="http://schemas.openxmlformats.org/officeDocument/2006/relationships/image" Target="../media/image6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358674"/>
            <a:ext cx="15666589" cy="7569653"/>
          </a:xfrm>
          <a:prstGeom prst="rect">
            <a:avLst/>
          </a:prstGeom>
          <a:solidFill>
            <a:srgbClr val="2B3425"/>
          </a:solidFill>
        </p:spPr>
      </p:sp>
      <p:sp>
        <p:nvSpPr>
          <p:cNvPr id="3" name="TextBox 3"/>
          <p:cNvSpPr txBox="1"/>
          <p:nvPr/>
        </p:nvSpPr>
        <p:spPr>
          <a:xfrm>
            <a:off x="8033040" y="3075821"/>
            <a:ext cx="8846679" cy="344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6301" b="1" spc="441">
                <a:solidFill>
                  <a:srgbClr val="BFECAC"/>
                </a:solidFill>
                <a:latin typeface="Oswald Bold"/>
                <a:ea typeface="Oswald Bold"/>
                <a:cs typeface="Oswald Bold"/>
                <a:sym typeface="Oswald Bold"/>
              </a:rPr>
              <a:t>CIRCULAR </a:t>
            </a:r>
          </a:p>
          <a:p>
            <a:pPr algn="l">
              <a:lnSpc>
                <a:spcPts val="6805"/>
              </a:lnSpc>
            </a:pPr>
            <a:r>
              <a:rPr lang="en-US" sz="6301" b="1" spc="441">
                <a:solidFill>
                  <a:srgbClr val="BFECAC"/>
                </a:solidFill>
                <a:latin typeface="Oswald Bold"/>
                <a:ea typeface="Oswald Bold"/>
                <a:cs typeface="Oswald Bold"/>
                <a:sym typeface="Oswald Bold"/>
              </a:rPr>
              <a:t>WASTE-TO-ENERGY SYSTEM FOR FOOD PROCESSING PLANTS</a:t>
            </a:r>
          </a:p>
        </p:txBody>
      </p:sp>
      <p:sp>
        <p:nvSpPr>
          <p:cNvPr id="4" name="AutoShape 4"/>
          <p:cNvSpPr/>
          <p:nvPr/>
        </p:nvSpPr>
        <p:spPr>
          <a:xfrm>
            <a:off x="8033040" y="7896162"/>
            <a:ext cx="685409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445104" y="2141012"/>
            <a:ext cx="5127516" cy="5778963"/>
          </a:xfrm>
          <a:custGeom>
            <a:avLst/>
            <a:gdLst/>
            <a:ahLst/>
            <a:cxnLst/>
            <a:rect l="l" t="t" r="r" b="b"/>
            <a:pathLst>
              <a:path w="5127516" h="5778963">
                <a:moveTo>
                  <a:pt x="0" y="0"/>
                </a:moveTo>
                <a:lnTo>
                  <a:pt x="5127516" y="0"/>
                </a:lnTo>
                <a:lnTo>
                  <a:pt x="5127516" y="5778963"/>
                </a:lnTo>
                <a:lnTo>
                  <a:pt x="0" y="5778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43431" y="7206251"/>
            <a:ext cx="4611861" cy="461186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1049" y="7919975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7A2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7A2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rot="-1572335">
            <a:off x="5492141" y="3084262"/>
            <a:ext cx="1341163" cy="1049311"/>
          </a:xfrm>
          <a:custGeom>
            <a:avLst/>
            <a:gdLst/>
            <a:ahLst/>
            <a:cxnLst/>
            <a:rect l="l" t="t" r="r" b="b"/>
            <a:pathLst>
              <a:path w="1341163" h="1049311">
                <a:moveTo>
                  <a:pt x="0" y="0"/>
                </a:moveTo>
                <a:lnTo>
                  <a:pt x="1341163" y="0"/>
                </a:lnTo>
                <a:lnTo>
                  <a:pt x="1341163" y="1049310"/>
                </a:lnTo>
                <a:lnTo>
                  <a:pt x="0" y="1049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329382" y="6215534"/>
            <a:ext cx="1771027" cy="1426481"/>
          </a:xfrm>
          <a:custGeom>
            <a:avLst/>
            <a:gdLst/>
            <a:ahLst/>
            <a:cxnLst/>
            <a:rect l="l" t="t" r="r" b="b"/>
            <a:pathLst>
              <a:path w="1771027" h="1426481">
                <a:moveTo>
                  <a:pt x="0" y="0"/>
                </a:moveTo>
                <a:lnTo>
                  <a:pt x="1771026" y="0"/>
                </a:lnTo>
                <a:lnTo>
                  <a:pt x="1771026" y="1426482"/>
                </a:lnTo>
                <a:lnTo>
                  <a:pt x="0" y="1426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033040" y="6750956"/>
            <a:ext cx="884667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189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Integrating AD, Biomass Combustion &amp; CHP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33040" y="8081424"/>
            <a:ext cx="884667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10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Patels Group | Presentation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33304" y="1527260"/>
            <a:ext cx="1004641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10" dirty="0">
                <a:solidFill>
                  <a:srgbClr val="FFF9F3">
                    <a:alpha val="61961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ERGY8031-1 </a:t>
            </a:r>
          </a:p>
          <a:p>
            <a:pPr algn="l">
              <a:lnSpc>
                <a:spcPts val="4200"/>
              </a:lnSpc>
            </a:pPr>
            <a:r>
              <a:rPr lang="en-US" sz="3000" spc="210" dirty="0">
                <a:solidFill>
                  <a:srgbClr val="FFF9F3">
                    <a:alpha val="61961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CAPSTONE - Applied Energy Management  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10344" y="1028700"/>
            <a:ext cx="21801643" cy="8229600"/>
          </a:xfrm>
          <a:prstGeom prst="rect">
            <a:avLst/>
          </a:prstGeom>
          <a:solidFill>
            <a:srgbClr val="414B3B"/>
          </a:solidFill>
        </p:spPr>
      </p:sp>
      <p:grpSp>
        <p:nvGrpSpPr>
          <p:cNvPr id="3" name="Group 3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6821" y="430119"/>
            <a:ext cx="1748282" cy="17482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19582" y="8543721"/>
            <a:ext cx="1748282" cy="17482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4191130" y="4071296"/>
            <a:ext cx="990574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4208534" y="4499920"/>
            <a:ext cx="13862318" cy="4553785"/>
            <a:chOff x="0" y="0"/>
            <a:chExt cx="3650981" cy="1199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50981" cy="1199351"/>
            </a:xfrm>
            <a:custGeom>
              <a:avLst/>
              <a:gdLst/>
              <a:ahLst/>
              <a:cxnLst/>
              <a:rect l="l" t="t" r="r" b="b"/>
              <a:pathLst>
                <a:path w="3650981" h="1199351">
                  <a:moveTo>
                    <a:pt x="0" y="0"/>
                  </a:moveTo>
                  <a:lnTo>
                    <a:pt x="3650981" y="0"/>
                  </a:lnTo>
                  <a:lnTo>
                    <a:pt x="3650981" y="1199351"/>
                  </a:lnTo>
                  <a:lnTo>
                    <a:pt x="0" y="1199351"/>
                  </a:lnTo>
                  <a:close/>
                </a:path>
              </a:pathLst>
            </a:custGeom>
            <a:solidFill>
              <a:srgbClr val="8CA87C"/>
            </a:solidFill>
            <a:ln w="66675" cap="sq">
              <a:solidFill>
                <a:srgbClr val="8CA87C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650981" cy="123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08534" y="2178401"/>
            <a:ext cx="9905741" cy="1651498"/>
            <a:chOff x="0" y="0"/>
            <a:chExt cx="2608919" cy="4349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08919" cy="434962"/>
            </a:xfrm>
            <a:custGeom>
              <a:avLst/>
              <a:gdLst/>
              <a:ahLst/>
              <a:cxnLst/>
              <a:rect l="l" t="t" r="r" b="b"/>
              <a:pathLst>
                <a:path w="2608919" h="434962">
                  <a:moveTo>
                    <a:pt x="0" y="0"/>
                  </a:moveTo>
                  <a:lnTo>
                    <a:pt x="2608919" y="0"/>
                  </a:lnTo>
                  <a:lnTo>
                    <a:pt x="2608919" y="434962"/>
                  </a:lnTo>
                  <a:lnTo>
                    <a:pt x="0" y="434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608919" cy="473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-441674" y="7483139"/>
            <a:ext cx="6610609" cy="3293285"/>
          </a:xfrm>
          <a:custGeom>
            <a:avLst/>
            <a:gdLst/>
            <a:ahLst/>
            <a:cxnLst/>
            <a:rect l="l" t="t" r="r" b="b"/>
            <a:pathLst>
              <a:path w="6610609" h="3293285">
                <a:moveTo>
                  <a:pt x="0" y="0"/>
                </a:moveTo>
                <a:lnTo>
                  <a:pt x="6610609" y="0"/>
                </a:lnTo>
                <a:lnTo>
                  <a:pt x="6610609" y="3293285"/>
                </a:lnTo>
                <a:lnTo>
                  <a:pt x="0" y="3293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863630" y="853287"/>
            <a:ext cx="3841583" cy="2650228"/>
          </a:xfrm>
          <a:custGeom>
            <a:avLst/>
            <a:gdLst/>
            <a:ahLst/>
            <a:cxnLst/>
            <a:rect l="l" t="t" r="r" b="b"/>
            <a:pathLst>
              <a:path w="3841583" h="2650228">
                <a:moveTo>
                  <a:pt x="0" y="0"/>
                </a:moveTo>
                <a:lnTo>
                  <a:pt x="3841583" y="0"/>
                </a:lnTo>
                <a:lnTo>
                  <a:pt x="3841583" y="2650229"/>
                </a:lnTo>
                <a:lnTo>
                  <a:pt x="0" y="2650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7743089">
            <a:off x="-258227" y="6018887"/>
            <a:ext cx="2935628" cy="1515852"/>
          </a:xfrm>
          <a:custGeom>
            <a:avLst/>
            <a:gdLst/>
            <a:ahLst/>
            <a:cxnLst/>
            <a:rect l="l" t="t" r="r" b="b"/>
            <a:pathLst>
              <a:path w="2935628" h="1515852">
                <a:moveTo>
                  <a:pt x="0" y="0"/>
                </a:moveTo>
                <a:lnTo>
                  <a:pt x="2935628" y="0"/>
                </a:lnTo>
                <a:lnTo>
                  <a:pt x="2935628" y="1515852"/>
                </a:lnTo>
                <a:lnTo>
                  <a:pt x="0" y="1515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19397" y="2214566"/>
            <a:ext cx="1503131" cy="2796464"/>
          </a:xfrm>
          <a:custGeom>
            <a:avLst/>
            <a:gdLst/>
            <a:ahLst/>
            <a:cxnLst/>
            <a:rect l="l" t="t" r="r" b="b"/>
            <a:pathLst>
              <a:path w="1503131" h="2796464">
                <a:moveTo>
                  <a:pt x="0" y="0"/>
                </a:moveTo>
                <a:lnTo>
                  <a:pt x="1503131" y="0"/>
                </a:lnTo>
                <a:lnTo>
                  <a:pt x="1503131" y="2796464"/>
                </a:lnTo>
                <a:lnTo>
                  <a:pt x="0" y="2796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7781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6705213" y="4720277"/>
            <a:ext cx="10351367" cy="410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 of Problem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Objectives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design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Requirements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Details 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Evaluation of design</a:t>
            </a:r>
          </a:p>
          <a:p>
            <a:pPr marL="706485" lvl="1" indent="-353243" algn="l">
              <a:lnSpc>
                <a:spcPts val="4090"/>
              </a:lnSpc>
              <a:buFont typeface="Arial"/>
              <a:buChar char="•"/>
            </a:pPr>
            <a:r>
              <a:rPr lang="en-US" sz="3272" b="1" spc="2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Recomendations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68350" y="2490753"/>
            <a:ext cx="12225281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358674"/>
            <a:ext cx="15666589" cy="7569653"/>
          </a:xfrm>
          <a:prstGeom prst="rect">
            <a:avLst/>
          </a:prstGeom>
          <a:solidFill>
            <a:srgbClr val="2B3425"/>
          </a:solidFill>
        </p:spPr>
      </p:sp>
      <p:sp>
        <p:nvSpPr>
          <p:cNvPr id="3" name="AutoShape 3"/>
          <p:cNvSpPr/>
          <p:nvPr/>
        </p:nvSpPr>
        <p:spPr>
          <a:xfrm>
            <a:off x="4191130" y="3653797"/>
            <a:ext cx="990574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943431" y="7206251"/>
            <a:ext cx="4611861" cy="461186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7A2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530439" y="3868670"/>
            <a:ext cx="11444690" cy="430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4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Generation:</a:t>
            </a:r>
            <a:r>
              <a:rPr lang="en-US" sz="3000" spc="210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 60 tonnes of organic waste every single day!</a:t>
            </a:r>
          </a:p>
          <a:p>
            <a:pPr marL="647704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Disposal: M</a:t>
            </a:r>
            <a:r>
              <a:rPr lang="en-US" sz="3000" spc="210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ethane emissions and waste valuable energy</a:t>
            </a: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  <a:p>
            <a:pPr marL="647704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Our plan:</a:t>
            </a:r>
            <a:r>
              <a:rPr lang="en-US" sz="3000" spc="210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 A circular waste-to-energy system using AD + Biomass + CHP</a:t>
            </a: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  <a:p>
            <a:pPr marL="647704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b="1" spc="210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Our Goal: </a:t>
            </a:r>
            <a:r>
              <a:rPr lang="en-US" sz="3000" spc="210">
                <a:solidFill>
                  <a:srgbClr val="FFF9F3"/>
                </a:solidFill>
                <a:latin typeface="DM Sans"/>
                <a:ea typeface="DM Sans"/>
                <a:cs typeface="DM Sans"/>
                <a:sym typeface="DM Sans"/>
              </a:rPr>
              <a:t>Convert waste into electricity, heat, and fertilizer and giving mother earth a high five!</a:t>
            </a:r>
          </a:p>
          <a:p>
            <a:pPr algn="just">
              <a:lnSpc>
                <a:spcPts val="140"/>
              </a:lnSpc>
            </a:pPr>
            <a:endParaRPr lang="en-US" sz="3000" spc="210">
              <a:solidFill>
                <a:srgbClr val="FFF9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2349058" y="8011854"/>
            <a:ext cx="5758030" cy="2512595"/>
          </a:xfrm>
          <a:custGeom>
            <a:avLst/>
            <a:gdLst/>
            <a:ahLst/>
            <a:cxnLst/>
            <a:rect l="l" t="t" r="r" b="b"/>
            <a:pathLst>
              <a:path w="5758030" h="2512595">
                <a:moveTo>
                  <a:pt x="0" y="0"/>
                </a:moveTo>
                <a:lnTo>
                  <a:pt x="5758029" y="0"/>
                </a:lnTo>
                <a:lnTo>
                  <a:pt x="5758029" y="2512595"/>
                </a:lnTo>
                <a:lnTo>
                  <a:pt x="0" y="251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940972" y="456740"/>
            <a:ext cx="1886172" cy="1803866"/>
          </a:xfrm>
          <a:custGeom>
            <a:avLst/>
            <a:gdLst/>
            <a:ahLst/>
            <a:cxnLst/>
            <a:rect l="l" t="t" r="r" b="b"/>
            <a:pathLst>
              <a:path w="1886172" h="1803866">
                <a:moveTo>
                  <a:pt x="0" y="0"/>
                </a:moveTo>
                <a:lnTo>
                  <a:pt x="1886172" y="0"/>
                </a:lnTo>
                <a:lnTo>
                  <a:pt x="1886172" y="1803867"/>
                </a:lnTo>
                <a:lnTo>
                  <a:pt x="0" y="1803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312870" y="2298118"/>
            <a:ext cx="11662259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INTRODUCTION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849120"/>
            <a:ext cx="9525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358674"/>
            <a:ext cx="15666589" cy="7569653"/>
          </a:xfrm>
          <a:prstGeom prst="rect">
            <a:avLst/>
          </a:prstGeom>
          <a:solidFill>
            <a:srgbClr val="FFF9F3"/>
          </a:solidFill>
        </p:spPr>
      </p:sp>
      <p:sp>
        <p:nvSpPr>
          <p:cNvPr id="3" name="AutoShape 3"/>
          <p:cNvSpPr/>
          <p:nvPr/>
        </p:nvSpPr>
        <p:spPr>
          <a:xfrm>
            <a:off x="4191130" y="4119950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564234" y="4143763"/>
            <a:ext cx="2849446" cy="3384871"/>
          </a:xfrm>
          <a:custGeom>
            <a:avLst/>
            <a:gdLst/>
            <a:ahLst/>
            <a:cxnLst/>
            <a:rect l="l" t="t" r="r" b="b"/>
            <a:pathLst>
              <a:path w="2849446" h="3384871">
                <a:moveTo>
                  <a:pt x="0" y="0"/>
                </a:moveTo>
                <a:lnTo>
                  <a:pt x="2849447" y="0"/>
                </a:lnTo>
                <a:lnTo>
                  <a:pt x="2849447" y="3384871"/>
                </a:lnTo>
                <a:lnTo>
                  <a:pt x="0" y="3384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43959" y="1721399"/>
            <a:ext cx="2819542" cy="3164792"/>
          </a:xfrm>
          <a:custGeom>
            <a:avLst/>
            <a:gdLst/>
            <a:ahLst/>
            <a:cxnLst/>
            <a:rect l="l" t="t" r="r" b="b"/>
            <a:pathLst>
              <a:path w="2819542" h="3164792">
                <a:moveTo>
                  <a:pt x="0" y="0"/>
                </a:moveTo>
                <a:lnTo>
                  <a:pt x="2819542" y="0"/>
                </a:lnTo>
                <a:lnTo>
                  <a:pt x="2819542" y="3164792"/>
                </a:lnTo>
                <a:lnTo>
                  <a:pt x="0" y="3164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334095" y="7802916"/>
            <a:ext cx="3284739" cy="2484084"/>
          </a:xfrm>
          <a:custGeom>
            <a:avLst/>
            <a:gdLst/>
            <a:ahLst/>
            <a:cxnLst/>
            <a:rect l="l" t="t" r="r" b="b"/>
            <a:pathLst>
              <a:path w="3284739" h="2484084">
                <a:moveTo>
                  <a:pt x="0" y="0"/>
                </a:moveTo>
                <a:lnTo>
                  <a:pt x="3284739" y="0"/>
                </a:lnTo>
                <a:lnTo>
                  <a:pt x="3284739" y="2484084"/>
                </a:lnTo>
                <a:lnTo>
                  <a:pt x="0" y="2484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191130" y="4410463"/>
            <a:ext cx="9905741" cy="402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146" lvl="1" indent="-311573" algn="l">
              <a:lnSpc>
                <a:spcPts val="4040"/>
              </a:lnSpc>
              <a:buFont typeface="Arial"/>
              <a:buChar char="•"/>
            </a:pPr>
            <a:r>
              <a:rPr lang="en-US" sz="2886" spc="202">
                <a:solidFill>
                  <a:srgbClr val="2B3425"/>
                </a:solidFill>
                <a:latin typeface="DM Sans"/>
                <a:ea typeface="DM Sans"/>
                <a:cs typeface="DM Sans"/>
                <a:sym typeface="DM Sans"/>
              </a:rPr>
              <a:t>Facility relies heavily on natural gas for heat and grid electricity for operations.</a:t>
            </a:r>
          </a:p>
          <a:p>
            <a:pPr marL="623146" lvl="1" indent="-311573" algn="l">
              <a:lnSpc>
                <a:spcPts val="4040"/>
              </a:lnSpc>
              <a:buFont typeface="Arial"/>
              <a:buChar char="•"/>
            </a:pPr>
            <a:r>
              <a:rPr lang="en-US" sz="2886" spc="202">
                <a:solidFill>
                  <a:srgbClr val="2B3425"/>
                </a:solidFill>
                <a:latin typeface="DM Sans"/>
                <a:ea typeface="DM Sans"/>
                <a:cs typeface="DM Sans"/>
                <a:sym typeface="DM Sans"/>
              </a:rPr>
              <a:t>Double cost burden: Paying for disposal + paying for fossil fuel energy.</a:t>
            </a:r>
          </a:p>
          <a:p>
            <a:pPr marL="623146" lvl="1" indent="-311573" algn="l">
              <a:lnSpc>
                <a:spcPts val="4040"/>
              </a:lnSpc>
              <a:buFont typeface="Arial"/>
              <a:buChar char="•"/>
            </a:pPr>
            <a:r>
              <a:rPr lang="en-US" sz="2886" spc="202">
                <a:solidFill>
                  <a:srgbClr val="2B3425"/>
                </a:solidFill>
                <a:latin typeface="DM Sans"/>
                <a:ea typeface="DM Sans"/>
                <a:cs typeface="DM Sans"/>
                <a:sym typeface="DM Sans"/>
              </a:rPr>
              <a:t>Current operation does NOT meet sustainability or decarbonization goals.</a:t>
            </a:r>
          </a:p>
          <a:p>
            <a:pPr algn="ctr">
              <a:lnSpc>
                <a:spcPts val="4040"/>
              </a:lnSpc>
            </a:pPr>
            <a:r>
              <a:rPr lang="en-US" sz="2886" b="1" spc="202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Meaning, The plant is wasting energy potential while paying heavily for external energy.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6698" y="2405337"/>
            <a:ext cx="11662259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414B3B"/>
                </a:solidFill>
                <a:latin typeface="Oswald Bold"/>
                <a:ea typeface="Oswald Bold"/>
                <a:cs typeface="Oswald Bold"/>
                <a:sym typeface="Oswald Bold"/>
              </a:rPr>
              <a:t>PROBLEM IS...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358674"/>
            <a:ext cx="15666589" cy="10227938"/>
          </a:xfrm>
          <a:prstGeom prst="rect">
            <a:avLst/>
          </a:prstGeom>
          <a:solidFill>
            <a:srgbClr val="FFF9F3"/>
          </a:solidFill>
        </p:spPr>
      </p:sp>
      <p:sp>
        <p:nvSpPr>
          <p:cNvPr id="3" name="AutoShape 3"/>
          <p:cNvSpPr/>
          <p:nvPr/>
        </p:nvSpPr>
        <p:spPr>
          <a:xfrm>
            <a:off x="4191130" y="4119950"/>
            <a:ext cx="9905741" cy="0"/>
          </a:xfrm>
          <a:prstGeom prst="line">
            <a:avLst/>
          </a:prstGeom>
          <a:ln w="47625" cap="flat">
            <a:solidFill>
              <a:srgbClr val="5D53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265" y="8229600"/>
            <a:ext cx="4611861" cy="46118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56265" y="6172200"/>
            <a:ext cx="6540867" cy="4114800"/>
          </a:xfrm>
          <a:custGeom>
            <a:avLst/>
            <a:gdLst/>
            <a:ahLst/>
            <a:cxnLst/>
            <a:rect l="l" t="t" r="r" b="b"/>
            <a:pathLst>
              <a:path w="6540867" h="4114800">
                <a:moveTo>
                  <a:pt x="6540867" y="0"/>
                </a:moveTo>
                <a:lnTo>
                  <a:pt x="0" y="0"/>
                </a:lnTo>
                <a:lnTo>
                  <a:pt x="0" y="4114800"/>
                </a:lnTo>
                <a:lnTo>
                  <a:pt x="6540867" y="4114800"/>
                </a:lnTo>
                <a:lnTo>
                  <a:pt x="65408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974186" y="5122614"/>
            <a:ext cx="10770507" cy="383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290" lvl="1" indent="-309645" algn="just">
              <a:lnSpc>
                <a:spcPts val="4015"/>
              </a:lnSpc>
              <a:buFont typeface="Arial"/>
              <a:buChar char="•"/>
            </a:pPr>
            <a:r>
              <a:rPr lang="en-US" sz="2868" b="1" spc="200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an integrated waste-to-energy system</a:t>
            </a:r>
          </a:p>
          <a:p>
            <a:pPr marL="619290" lvl="1" indent="-309645" algn="just">
              <a:lnSpc>
                <a:spcPts val="4015"/>
              </a:lnSpc>
              <a:buFont typeface="Arial"/>
              <a:buChar char="•"/>
            </a:pPr>
            <a:r>
              <a:rPr lang="en-US" sz="2868" b="1" spc="200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Renewable electricity (15,000 kWh/day) &amp; Thermal energy (37,000 kWh/day).</a:t>
            </a:r>
          </a:p>
          <a:p>
            <a:pPr marL="619290" lvl="1" indent="-309645" algn="just">
              <a:lnSpc>
                <a:spcPts val="4015"/>
              </a:lnSpc>
              <a:buFont typeface="Arial"/>
              <a:buChar char="•"/>
            </a:pPr>
            <a:r>
              <a:rPr lang="en-US" sz="2868" b="1" spc="200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Minimum 60% GHG reduction </a:t>
            </a:r>
          </a:p>
          <a:p>
            <a:pPr marL="619290" lvl="1" indent="-309645" algn="just">
              <a:lnSpc>
                <a:spcPts val="4015"/>
              </a:lnSpc>
              <a:buFont typeface="Arial"/>
              <a:buChar char="•"/>
            </a:pPr>
            <a:r>
              <a:rPr lang="en-US" sz="2868" b="1" spc="200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Economic feasibility with a 6.4–9.5 year payback.</a:t>
            </a:r>
          </a:p>
          <a:p>
            <a:pPr marL="619290" lvl="1" indent="-309645" algn="just">
              <a:lnSpc>
                <a:spcPts val="4015"/>
              </a:lnSpc>
              <a:buFont typeface="Arial"/>
              <a:buChar char="•"/>
            </a:pPr>
            <a:r>
              <a:rPr lang="en-US" sz="2868" b="1" spc="200">
                <a:solidFill>
                  <a:srgbClr val="2B3425"/>
                </a:solidFill>
                <a:latin typeface="DM Sans Bold"/>
                <a:ea typeface="DM Sans Bold"/>
                <a:cs typeface="DM Sans Bold"/>
                <a:sym typeface="DM Sans Bold"/>
              </a:rPr>
              <a:t>Circular economy principles with digestate fertilizer recovery.</a:t>
            </a:r>
          </a:p>
          <a:p>
            <a:pPr algn="just">
              <a:lnSpc>
                <a:spcPts val="2409"/>
              </a:lnSpc>
            </a:pPr>
            <a:r>
              <a:rPr lang="en-US" sz="1721" spc="120">
                <a:solidFill>
                  <a:srgbClr val="2B342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26698" y="1857650"/>
            <a:ext cx="11662259" cy="221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414B3B"/>
                </a:solidFill>
                <a:latin typeface="Oswald Bold"/>
                <a:ea typeface="Oswald Bold"/>
                <a:cs typeface="Oswald Bold"/>
                <a:sym typeface="Oswald Bold"/>
              </a:rPr>
              <a:t>OBJECTIVES OF THE PROJECT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56859" y="524170"/>
            <a:ext cx="6574281" cy="104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76"/>
              </a:lnSpc>
              <a:spcBef>
                <a:spcPct val="0"/>
              </a:spcBef>
            </a:pPr>
            <a:r>
              <a:rPr lang="en-US" sz="7776" spc="77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PROPOSED DESIGN</a:t>
            </a:r>
          </a:p>
        </p:txBody>
      </p:sp>
      <p:sp>
        <p:nvSpPr>
          <p:cNvPr id="4" name="Freeform 4"/>
          <p:cNvSpPr/>
          <p:nvPr/>
        </p:nvSpPr>
        <p:spPr>
          <a:xfrm rot="2700000" flipV="1">
            <a:off x="13553394" y="2956357"/>
            <a:ext cx="1507296" cy="717249"/>
          </a:xfrm>
          <a:custGeom>
            <a:avLst/>
            <a:gdLst/>
            <a:ahLst/>
            <a:cxnLst/>
            <a:rect l="l" t="t" r="r" b="b"/>
            <a:pathLst>
              <a:path w="1507296" h="717249">
                <a:moveTo>
                  <a:pt x="0" y="717249"/>
                </a:moveTo>
                <a:lnTo>
                  <a:pt x="1507295" y="717249"/>
                </a:lnTo>
                <a:lnTo>
                  <a:pt x="1507295" y="0"/>
                </a:lnTo>
                <a:lnTo>
                  <a:pt x="0" y="0"/>
                </a:lnTo>
                <a:lnTo>
                  <a:pt x="0" y="71724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43" t="-58588"/>
            </a:stretch>
          </a:blipFill>
        </p:spPr>
      </p:sp>
      <p:sp>
        <p:nvSpPr>
          <p:cNvPr id="5" name="Freeform 5"/>
          <p:cNvSpPr/>
          <p:nvPr/>
        </p:nvSpPr>
        <p:spPr>
          <a:xfrm rot="-2700000" flipH="1" flipV="1">
            <a:off x="3332851" y="2943024"/>
            <a:ext cx="1580710" cy="752183"/>
          </a:xfrm>
          <a:custGeom>
            <a:avLst/>
            <a:gdLst/>
            <a:ahLst/>
            <a:cxnLst/>
            <a:rect l="l" t="t" r="r" b="b"/>
            <a:pathLst>
              <a:path w="1580710" h="752183">
                <a:moveTo>
                  <a:pt x="1580709" y="752183"/>
                </a:moveTo>
                <a:lnTo>
                  <a:pt x="0" y="752183"/>
                </a:lnTo>
                <a:lnTo>
                  <a:pt x="0" y="0"/>
                </a:lnTo>
                <a:lnTo>
                  <a:pt x="1580709" y="0"/>
                </a:lnTo>
                <a:lnTo>
                  <a:pt x="1580709" y="7521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43" t="-58588"/>
            </a:stretch>
          </a:blipFill>
        </p:spPr>
      </p:sp>
      <p:sp>
        <p:nvSpPr>
          <p:cNvPr id="6" name="Freeform 6"/>
          <p:cNvSpPr/>
          <p:nvPr/>
        </p:nvSpPr>
        <p:spPr>
          <a:xfrm rot="9151063">
            <a:off x="7092317" y="3206183"/>
            <a:ext cx="1151313" cy="787079"/>
          </a:xfrm>
          <a:custGeom>
            <a:avLst/>
            <a:gdLst/>
            <a:ahLst/>
            <a:cxnLst/>
            <a:rect l="l" t="t" r="r" b="b"/>
            <a:pathLst>
              <a:path w="1151313" h="787079">
                <a:moveTo>
                  <a:pt x="0" y="0"/>
                </a:moveTo>
                <a:lnTo>
                  <a:pt x="1151313" y="0"/>
                </a:lnTo>
                <a:lnTo>
                  <a:pt x="1151313" y="787079"/>
                </a:lnTo>
                <a:lnTo>
                  <a:pt x="0" y="787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19572" flipV="1">
            <a:off x="10051476" y="3182875"/>
            <a:ext cx="1151313" cy="787079"/>
          </a:xfrm>
          <a:custGeom>
            <a:avLst/>
            <a:gdLst/>
            <a:ahLst/>
            <a:cxnLst/>
            <a:rect l="l" t="t" r="r" b="b"/>
            <a:pathLst>
              <a:path w="1151313" h="787079">
                <a:moveTo>
                  <a:pt x="0" y="787079"/>
                </a:moveTo>
                <a:lnTo>
                  <a:pt x="1151313" y="787079"/>
                </a:lnTo>
                <a:lnTo>
                  <a:pt x="1151313" y="0"/>
                </a:lnTo>
                <a:lnTo>
                  <a:pt x="0" y="0"/>
                </a:lnTo>
                <a:lnTo>
                  <a:pt x="0" y="78707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534418" y="1572270"/>
            <a:ext cx="7335885" cy="1842095"/>
            <a:chOff x="0" y="0"/>
            <a:chExt cx="3172940" cy="796749"/>
          </a:xfrm>
        </p:grpSpPr>
        <p:sp>
          <p:nvSpPr>
            <p:cNvPr id="9" name="Freeform 9"/>
            <p:cNvSpPr/>
            <p:nvPr/>
          </p:nvSpPr>
          <p:spPr>
            <a:xfrm>
              <a:off x="40022" y="45156"/>
              <a:ext cx="3132918" cy="750887"/>
            </a:xfrm>
            <a:custGeom>
              <a:avLst/>
              <a:gdLst/>
              <a:ahLst/>
              <a:cxnLst/>
              <a:rect l="l" t="t" r="r" b="b"/>
              <a:pathLst>
                <a:path w="3132918" h="750887">
                  <a:moveTo>
                    <a:pt x="618" y="721113"/>
                  </a:moveTo>
                  <a:cubicBezTo>
                    <a:pt x="-1922" y="730003"/>
                    <a:pt x="3158" y="736353"/>
                    <a:pt x="19818" y="737623"/>
                  </a:cubicBezTo>
                  <a:cubicBezTo>
                    <a:pt x="39039" y="738893"/>
                    <a:pt x="55858" y="738893"/>
                    <a:pt x="75079" y="738893"/>
                  </a:cubicBezTo>
                  <a:cubicBezTo>
                    <a:pt x="151963" y="740163"/>
                    <a:pt x="228847" y="740163"/>
                    <a:pt x="308133" y="741433"/>
                  </a:cubicBezTo>
                  <a:cubicBezTo>
                    <a:pt x="351381" y="742703"/>
                    <a:pt x="394628" y="743973"/>
                    <a:pt x="435472" y="745243"/>
                  </a:cubicBezTo>
                  <a:cubicBezTo>
                    <a:pt x="507551" y="746513"/>
                    <a:pt x="577227" y="746513"/>
                    <a:pt x="649306" y="747783"/>
                  </a:cubicBezTo>
                  <a:cubicBezTo>
                    <a:pt x="678138" y="747783"/>
                    <a:pt x="704566" y="747783"/>
                    <a:pt x="733398" y="746513"/>
                  </a:cubicBezTo>
                  <a:cubicBezTo>
                    <a:pt x="745411" y="746513"/>
                    <a:pt x="759827" y="745243"/>
                    <a:pt x="771840" y="745243"/>
                  </a:cubicBezTo>
                  <a:cubicBezTo>
                    <a:pt x="819892" y="746513"/>
                    <a:pt x="1780942" y="737623"/>
                    <a:pt x="1828995" y="738893"/>
                  </a:cubicBezTo>
                  <a:cubicBezTo>
                    <a:pt x="1896268" y="740163"/>
                    <a:pt x="2081270" y="740163"/>
                    <a:pt x="2148544" y="740163"/>
                  </a:cubicBezTo>
                  <a:cubicBezTo>
                    <a:pt x="2174973" y="740163"/>
                    <a:pt x="2198999" y="738893"/>
                    <a:pt x="2225428" y="738893"/>
                  </a:cubicBezTo>
                  <a:lnTo>
                    <a:pt x="2355170" y="742703"/>
                  </a:lnTo>
                  <a:cubicBezTo>
                    <a:pt x="2448872" y="745243"/>
                    <a:pt x="2540172" y="742703"/>
                    <a:pt x="2633874" y="746513"/>
                  </a:cubicBezTo>
                  <a:cubicBezTo>
                    <a:pt x="2790045" y="751593"/>
                    <a:pt x="2948618" y="745243"/>
                    <a:pt x="3069418" y="750323"/>
                  </a:cubicBezTo>
                  <a:cubicBezTo>
                    <a:pt x="3089738" y="751593"/>
                    <a:pt x="3110058" y="750323"/>
                    <a:pt x="3132918" y="750323"/>
                  </a:cubicBezTo>
                  <a:lnTo>
                    <a:pt x="3132918" y="690633"/>
                  </a:lnTo>
                  <a:cubicBezTo>
                    <a:pt x="3131648" y="647264"/>
                    <a:pt x="3130378" y="622292"/>
                    <a:pt x="3130378" y="595760"/>
                  </a:cubicBezTo>
                  <a:cubicBezTo>
                    <a:pt x="3130378" y="565066"/>
                    <a:pt x="3134188" y="533851"/>
                    <a:pt x="3127838" y="503157"/>
                  </a:cubicBezTo>
                  <a:cubicBezTo>
                    <a:pt x="3120218" y="482868"/>
                    <a:pt x="3108788" y="82803"/>
                    <a:pt x="3108788" y="62514"/>
                  </a:cubicBezTo>
                  <a:cubicBezTo>
                    <a:pt x="3106248" y="48467"/>
                    <a:pt x="3104978" y="33900"/>
                    <a:pt x="3102438" y="19854"/>
                  </a:cubicBezTo>
                  <a:cubicBezTo>
                    <a:pt x="3102438" y="15692"/>
                    <a:pt x="3101168" y="11530"/>
                    <a:pt x="3099898" y="5644"/>
                  </a:cubicBezTo>
                  <a:cubicBezTo>
                    <a:pt x="3089738" y="3104"/>
                    <a:pt x="3080848" y="1834"/>
                    <a:pt x="3070688" y="564"/>
                  </a:cubicBezTo>
                  <a:cubicBezTo>
                    <a:pt x="3063068" y="-706"/>
                    <a:pt x="3055448" y="564"/>
                    <a:pt x="3049098" y="564"/>
                  </a:cubicBezTo>
                  <a:lnTo>
                    <a:pt x="7805" y="5644"/>
                  </a:lnTo>
                  <a:lnTo>
                    <a:pt x="618" y="721113"/>
                  </a:lnTo>
                  <a:close/>
                </a:path>
              </a:pathLst>
            </a:custGeom>
            <a:solidFill>
              <a:srgbClr val="FFAAD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430" y="16510"/>
              <a:ext cx="3111980" cy="742139"/>
            </a:xfrm>
            <a:custGeom>
              <a:avLst/>
              <a:gdLst/>
              <a:ahLst/>
              <a:cxnLst/>
              <a:rect l="l" t="t" r="r" b="b"/>
              <a:pathLst>
                <a:path w="3111980" h="742139">
                  <a:moveTo>
                    <a:pt x="3111980" y="742139"/>
                  </a:moveTo>
                  <a:lnTo>
                    <a:pt x="0" y="734519"/>
                  </a:lnTo>
                  <a:lnTo>
                    <a:pt x="0" y="265960"/>
                  </a:lnTo>
                  <a:lnTo>
                    <a:pt x="7620" y="20320"/>
                  </a:lnTo>
                  <a:lnTo>
                    <a:pt x="1557259" y="0"/>
                  </a:lnTo>
                  <a:lnTo>
                    <a:pt x="3090390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-215" y="0"/>
              <a:ext cx="3136325" cy="768103"/>
            </a:xfrm>
            <a:custGeom>
              <a:avLst/>
              <a:gdLst/>
              <a:ahLst/>
              <a:cxnLst/>
              <a:rect l="l" t="t" r="r" b="b"/>
              <a:pathLst>
                <a:path w="3136325" h="768103">
                  <a:moveTo>
                    <a:pt x="3103305" y="21590"/>
                  </a:moveTo>
                  <a:cubicBezTo>
                    <a:pt x="3104575" y="34290"/>
                    <a:pt x="3104575" y="44450"/>
                    <a:pt x="3105845" y="53044"/>
                  </a:cubicBezTo>
                  <a:cubicBezTo>
                    <a:pt x="3108385" y="67091"/>
                    <a:pt x="3109655" y="81658"/>
                    <a:pt x="3112195" y="95704"/>
                  </a:cubicBezTo>
                  <a:cubicBezTo>
                    <a:pt x="3112195" y="115993"/>
                    <a:pt x="3124895" y="516058"/>
                    <a:pt x="3131245" y="536347"/>
                  </a:cubicBezTo>
                  <a:cubicBezTo>
                    <a:pt x="3137595" y="567042"/>
                    <a:pt x="3133785" y="598256"/>
                    <a:pt x="3133785" y="628950"/>
                  </a:cubicBezTo>
                  <a:cubicBezTo>
                    <a:pt x="3133785" y="656003"/>
                    <a:pt x="3135055" y="680974"/>
                    <a:pt x="3136325" y="707849"/>
                  </a:cubicBezTo>
                  <a:lnTo>
                    <a:pt x="3136325" y="767539"/>
                  </a:lnTo>
                  <a:cubicBezTo>
                    <a:pt x="3113465" y="767539"/>
                    <a:pt x="3093145" y="768809"/>
                    <a:pt x="3072825" y="767539"/>
                  </a:cubicBezTo>
                  <a:cubicBezTo>
                    <a:pt x="2919179" y="762459"/>
                    <a:pt x="2760606" y="768809"/>
                    <a:pt x="2604435" y="763729"/>
                  </a:cubicBezTo>
                  <a:cubicBezTo>
                    <a:pt x="2510732" y="759919"/>
                    <a:pt x="2419433" y="762459"/>
                    <a:pt x="2325731" y="759919"/>
                  </a:cubicBezTo>
                  <a:lnTo>
                    <a:pt x="2195989" y="756109"/>
                  </a:lnTo>
                  <a:cubicBezTo>
                    <a:pt x="2169560" y="756109"/>
                    <a:pt x="2145534" y="757379"/>
                    <a:pt x="2119105" y="757379"/>
                  </a:cubicBezTo>
                  <a:cubicBezTo>
                    <a:pt x="2051831" y="756109"/>
                    <a:pt x="1866829" y="757379"/>
                    <a:pt x="1799556" y="756109"/>
                  </a:cubicBezTo>
                  <a:cubicBezTo>
                    <a:pt x="1751503" y="754839"/>
                    <a:pt x="790453" y="763729"/>
                    <a:pt x="742401" y="762459"/>
                  </a:cubicBezTo>
                  <a:cubicBezTo>
                    <a:pt x="730388" y="762459"/>
                    <a:pt x="715972" y="763729"/>
                    <a:pt x="703959" y="763729"/>
                  </a:cubicBezTo>
                  <a:cubicBezTo>
                    <a:pt x="675127" y="763729"/>
                    <a:pt x="648698" y="764999"/>
                    <a:pt x="619867" y="764999"/>
                  </a:cubicBezTo>
                  <a:cubicBezTo>
                    <a:pt x="547788" y="764999"/>
                    <a:pt x="478112" y="763729"/>
                    <a:pt x="406033" y="762459"/>
                  </a:cubicBezTo>
                  <a:cubicBezTo>
                    <a:pt x="362786" y="761189"/>
                    <a:pt x="319539" y="759919"/>
                    <a:pt x="278694" y="758649"/>
                  </a:cubicBezTo>
                  <a:cubicBezTo>
                    <a:pt x="201810" y="757379"/>
                    <a:pt x="124926" y="756109"/>
                    <a:pt x="45640" y="756109"/>
                  </a:cubicBezTo>
                  <a:cubicBezTo>
                    <a:pt x="34505" y="756109"/>
                    <a:pt x="25615" y="756109"/>
                    <a:pt x="15455" y="754839"/>
                  </a:cubicBezTo>
                  <a:cubicBezTo>
                    <a:pt x="6565" y="753569"/>
                    <a:pt x="1485" y="747219"/>
                    <a:pt x="4025" y="738329"/>
                  </a:cubicBezTo>
                  <a:cubicBezTo>
                    <a:pt x="12915" y="706986"/>
                    <a:pt x="9105" y="693980"/>
                    <a:pt x="7835" y="680454"/>
                  </a:cubicBezTo>
                  <a:cubicBezTo>
                    <a:pt x="6565" y="652881"/>
                    <a:pt x="2755" y="625829"/>
                    <a:pt x="4025" y="598256"/>
                  </a:cubicBezTo>
                  <a:cubicBezTo>
                    <a:pt x="1485" y="563920"/>
                    <a:pt x="-3595" y="138884"/>
                    <a:pt x="4025" y="104028"/>
                  </a:cubicBezTo>
                  <a:cubicBezTo>
                    <a:pt x="5295" y="97265"/>
                    <a:pt x="4025" y="89981"/>
                    <a:pt x="5295" y="83218"/>
                  </a:cubicBezTo>
                  <a:cubicBezTo>
                    <a:pt x="6565" y="72293"/>
                    <a:pt x="9105" y="6032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861" y="30480"/>
                    <a:pt x="103303" y="29210"/>
                  </a:cubicBezTo>
                  <a:cubicBezTo>
                    <a:pt x="168173" y="25400"/>
                    <a:pt x="233044" y="22860"/>
                    <a:pt x="300318" y="20320"/>
                  </a:cubicBezTo>
                  <a:cubicBezTo>
                    <a:pt x="345968" y="17780"/>
                    <a:pt x="391618" y="16510"/>
                    <a:pt x="434865" y="13970"/>
                  </a:cubicBezTo>
                  <a:cubicBezTo>
                    <a:pt x="478112" y="11430"/>
                    <a:pt x="523762" y="8890"/>
                    <a:pt x="567009" y="8890"/>
                  </a:cubicBezTo>
                  <a:cubicBezTo>
                    <a:pt x="615062" y="7620"/>
                    <a:pt x="663114" y="10160"/>
                    <a:pt x="711167" y="8890"/>
                  </a:cubicBezTo>
                  <a:cubicBezTo>
                    <a:pt x="771232" y="8890"/>
                    <a:pt x="1859621" y="6350"/>
                    <a:pt x="1919687" y="5080"/>
                  </a:cubicBezTo>
                  <a:cubicBezTo>
                    <a:pt x="1977350" y="3810"/>
                    <a:pt x="2035013" y="2540"/>
                    <a:pt x="2095079" y="2540"/>
                  </a:cubicBezTo>
                  <a:cubicBezTo>
                    <a:pt x="2193586" y="1270"/>
                    <a:pt x="2289691" y="0"/>
                    <a:pt x="2388199" y="0"/>
                  </a:cubicBezTo>
                  <a:cubicBezTo>
                    <a:pt x="2429043" y="0"/>
                    <a:pt x="2472291" y="2540"/>
                    <a:pt x="2513135" y="2540"/>
                  </a:cubicBezTo>
                  <a:cubicBezTo>
                    <a:pt x="2626059" y="3810"/>
                    <a:pt x="2741385" y="5080"/>
                    <a:pt x="2854308" y="7620"/>
                  </a:cubicBezTo>
                  <a:cubicBezTo>
                    <a:pt x="2914374" y="8890"/>
                    <a:pt x="2974439" y="12700"/>
                    <a:pt x="3034505" y="16510"/>
                  </a:cubicBezTo>
                  <a:lnTo>
                    <a:pt x="3072825" y="16510"/>
                  </a:lnTo>
                  <a:cubicBezTo>
                    <a:pt x="3084255" y="17780"/>
                    <a:pt x="3093145" y="20320"/>
                    <a:pt x="3103305" y="21590"/>
                  </a:cubicBezTo>
                  <a:close/>
                  <a:moveTo>
                    <a:pt x="3113465" y="751029"/>
                  </a:moveTo>
                  <a:cubicBezTo>
                    <a:pt x="3114735" y="734519"/>
                    <a:pt x="3116005" y="721819"/>
                    <a:pt x="3116005" y="709119"/>
                  </a:cubicBezTo>
                  <a:cubicBezTo>
                    <a:pt x="3114735" y="678373"/>
                    <a:pt x="3113465" y="650800"/>
                    <a:pt x="3113465" y="621147"/>
                  </a:cubicBezTo>
                  <a:cubicBezTo>
                    <a:pt x="3113465" y="607620"/>
                    <a:pt x="3116005" y="594094"/>
                    <a:pt x="3114735" y="580568"/>
                  </a:cubicBezTo>
                  <a:cubicBezTo>
                    <a:pt x="3114735" y="568082"/>
                    <a:pt x="3113465" y="555076"/>
                    <a:pt x="3112195" y="542590"/>
                  </a:cubicBezTo>
                  <a:cubicBezTo>
                    <a:pt x="3107115" y="523341"/>
                    <a:pt x="3095685" y="124837"/>
                    <a:pt x="3095685" y="105589"/>
                  </a:cubicBezTo>
                  <a:cubicBezTo>
                    <a:pt x="3093145" y="89461"/>
                    <a:pt x="3090605" y="72813"/>
                    <a:pt x="3088065" y="56686"/>
                  </a:cubicBezTo>
                  <a:cubicBezTo>
                    <a:pt x="3086795" y="44450"/>
                    <a:pt x="3085525" y="43180"/>
                    <a:pt x="3068142" y="41910"/>
                  </a:cubicBezTo>
                  <a:cubicBezTo>
                    <a:pt x="3060934" y="41910"/>
                    <a:pt x="3056128" y="41910"/>
                    <a:pt x="3048921" y="40640"/>
                  </a:cubicBezTo>
                  <a:cubicBezTo>
                    <a:pt x="2988855" y="36830"/>
                    <a:pt x="2926387" y="31750"/>
                    <a:pt x="2866321" y="30480"/>
                  </a:cubicBezTo>
                  <a:cubicBezTo>
                    <a:pt x="2719761" y="26670"/>
                    <a:pt x="2570798" y="25400"/>
                    <a:pt x="2424238" y="22860"/>
                  </a:cubicBezTo>
                  <a:lnTo>
                    <a:pt x="2251249" y="22860"/>
                  </a:lnTo>
                  <a:cubicBezTo>
                    <a:pt x="2174365" y="22860"/>
                    <a:pt x="2097481" y="22860"/>
                    <a:pt x="2023000" y="24130"/>
                  </a:cubicBezTo>
                  <a:cubicBezTo>
                    <a:pt x="1958129" y="25400"/>
                    <a:pt x="864935" y="29210"/>
                    <a:pt x="800064" y="29210"/>
                  </a:cubicBezTo>
                  <a:cubicBezTo>
                    <a:pt x="694348" y="29210"/>
                    <a:pt x="588633" y="26670"/>
                    <a:pt x="482917" y="33020"/>
                  </a:cubicBezTo>
                  <a:cubicBezTo>
                    <a:pt x="427657" y="36830"/>
                    <a:pt x="374799" y="36830"/>
                    <a:pt x="321941" y="38100"/>
                  </a:cubicBezTo>
                  <a:cubicBezTo>
                    <a:pt x="230642" y="41910"/>
                    <a:pt x="139342" y="45720"/>
                    <a:pt x="48042" y="50800"/>
                  </a:cubicBezTo>
                  <a:cubicBezTo>
                    <a:pt x="33235" y="50800"/>
                    <a:pt x="30695" y="52524"/>
                    <a:pt x="29425" y="58767"/>
                  </a:cubicBezTo>
                  <a:cubicBezTo>
                    <a:pt x="28155" y="68131"/>
                    <a:pt x="28155" y="77496"/>
                    <a:pt x="26885" y="86860"/>
                  </a:cubicBezTo>
                  <a:cubicBezTo>
                    <a:pt x="25615" y="102467"/>
                    <a:pt x="23075" y="117554"/>
                    <a:pt x="21805" y="133161"/>
                  </a:cubicBezTo>
                  <a:cubicBezTo>
                    <a:pt x="16725" y="149809"/>
                    <a:pt x="23075" y="556637"/>
                    <a:pt x="25615" y="573285"/>
                  </a:cubicBezTo>
                  <a:cubicBezTo>
                    <a:pt x="25615" y="590973"/>
                    <a:pt x="25615" y="609181"/>
                    <a:pt x="26885" y="626869"/>
                  </a:cubicBezTo>
                  <a:cubicBezTo>
                    <a:pt x="26885" y="639875"/>
                    <a:pt x="29425" y="652881"/>
                    <a:pt x="29425" y="665887"/>
                  </a:cubicBezTo>
                  <a:cubicBezTo>
                    <a:pt x="29425" y="679934"/>
                    <a:pt x="29425" y="693980"/>
                    <a:pt x="28155" y="709119"/>
                  </a:cubicBezTo>
                  <a:lnTo>
                    <a:pt x="28155" y="719279"/>
                  </a:lnTo>
                  <a:cubicBezTo>
                    <a:pt x="28155" y="729439"/>
                    <a:pt x="31965" y="733249"/>
                    <a:pt x="40855" y="733249"/>
                  </a:cubicBezTo>
                  <a:cubicBezTo>
                    <a:pt x="69666" y="733249"/>
                    <a:pt x="103303" y="734519"/>
                    <a:pt x="134537" y="734519"/>
                  </a:cubicBezTo>
                  <a:cubicBezTo>
                    <a:pt x="180187" y="734519"/>
                    <a:pt x="228239" y="731979"/>
                    <a:pt x="273889" y="734519"/>
                  </a:cubicBezTo>
                  <a:cubicBezTo>
                    <a:pt x="348370" y="738329"/>
                    <a:pt x="422852" y="740869"/>
                    <a:pt x="497333" y="739599"/>
                  </a:cubicBezTo>
                  <a:cubicBezTo>
                    <a:pt x="545386" y="738329"/>
                    <a:pt x="591035" y="740869"/>
                    <a:pt x="639088" y="740869"/>
                  </a:cubicBezTo>
                  <a:cubicBezTo>
                    <a:pt x="708764" y="740869"/>
                    <a:pt x="778440" y="739599"/>
                    <a:pt x="848116" y="740869"/>
                  </a:cubicBezTo>
                  <a:cubicBezTo>
                    <a:pt x="951429" y="742139"/>
                    <a:pt x="2085468" y="731979"/>
                    <a:pt x="2191184" y="734519"/>
                  </a:cubicBezTo>
                  <a:cubicBezTo>
                    <a:pt x="2236834" y="735789"/>
                    <a:pt x="2282483" y="737059"/>
                    <a:pt x="2325731" y="737059"/>
                  </a:cubicBezTo>
                  <a:cubicBezTo>
                    <a:pt x="2405017" y="739599"/>
                    <a:pt x="2481901" y="735789"/>
                    <a:pt x="2561188" y="739599"/>
                  </a:cubicBezTo>
                  <a:cubicBezTo>
                    <a:pt x="2626059" y="742139"/>
                    <a:pt x="2690929" y="742139"/>
                    <a:pt x="2755800" y="744679"/>
                  </a:cubicBezTo>
                  <a:cubicBezTo>
                    <a:pt x="2851905" y="748489"/>
                    <a:pt x="2948010" y="751029"/>
                    <a:pt x="3044115" y="752299"/>
                  </a:cubicBezTo>
                  <a:cubicBezTo>
                    <a:pt x="3075365" y="752299"/>
                    <a:pt x="3093145" y="751029"/>
                    <a:pt x="3113465" y="751029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360708" y="4852450"/>
            <a:ext cx="3810000" cy="4851323"/>
            <a:chOff x="0" y="0"/>
            <a:chExt cx="1960479" cy="2496304"/>
          </a:xfrm>
        </p:grpSpPr>
        <p:sp>
          <p:nvSpPr>
            <p:cNvPr id="13" name="Freeform 13"/>
            <p:cNvSpPr/>
            <p:nvPr/>
          </p:nvSpPr>
          <p:spPr>
            <a:xfrm>
              <a:off x="39992" y="45156"/>
              <a:ext cx="1920487" cy="2450443"/>
            </a:xfrm>
            <a:custGeom>
              <a:avLst/>
              <a:gdLst/>
              <a:ahLst/>
              <a:cxnLst/>
              <a:rect l="l" t="t" r="r" b="b"/>
              <a:pathLst>
                <a:path w="1920487" h="2450443">
                  <a:moveTo>
                    <a:pt x="648" y="2420668"/>
                  </a:moveTo>
                  <a:cubicBezTo>
                    <a:pt x="-1892" y="2429558"/>
                    <a:pt x="3188" y="2435908"/>
                    <a:pt x="13245" y="2437178"/>
                  </a:cubicBezTo>
                  <a:cubicBezTo>
                    <a:pt x="24765" y="2438448"/>
                    <a:pt x="34846" y="2438448"/>
                    <a:pt x="46366" y="2438448"/>
                  </a:cubicBezTo>
                  <a:cubicBezTo>
                    <a:pt x="92449" y="2439718"/>
                    <a:pt x="138531" y="2439718"/>
                    <a:pt x="186054" y="2440988"/>
                  </a:cubicBezTo>
                  <a:cubicBezTo>
                    <a:pt x="211975" y="2442258"/>
                    <a:pt x="237896" y="2443528"/>
                    <a:pt x="262377" y="2444798"/>
                  </a:cubicBezTo>
                  <a:cubicBezTo>
                    <a:pt x="305580" y="2446068"/>
                    <a:pt x="347342" y="2446068"/>
                    <a:pt x="390544" y="2447338"/>
                  </a:cubicBezTo>
                  <a:cubicBezTo>
                    <a:pt x="407825" y="2447338"/>
                    <a:pt x="423666" y="2447338"/>
                    <a:pt x="440946" y="2446068"/>
                  </a:cubicBezTo>
                  <a:cubicBezTo>
                    <a:pt x="448147" y="2446068"/>
                    <a:pt x="456787" y="2444798"/>
                    <a:pt x="463988" y="2444798"/>
                  </a:cubicBezTo>
                  <a:cubicBezTo>
                    <a:pt x="492789" y="2446068"/>
                    <a:pt x="1068818" y="2437178"/>
                    <a:pt x="1097620" y="2438448"/>
                  </a:cubicBezTo>
                  <a:cubicBezTo>
                    <a:pt x="1137942" y="2439718"/>
                    <a:pt x="1248827" y="2439718"/>
                    <a:pt x="1289149" y="2439718"/>
                  </a:cubicBezTo>
                  <a:cubicBezTo>
                    <a:pt x="1304990" y="2439718"/>
                    <a:pt x="1319391" y="2438448"/>
                    <a:pt x="1335232" y="2438448"/>
                  </a:cubicBezTo>
                  <a:lnTo>
                    <a:pt x="1412996" y="2442258"/>
                  </a:lnTo>
                  <a:cubicBezTo>
                    <a:pt x="1469159" y="2444798"/>
                    <a:pt x="1523881" y="2442258"/>
                    <a:pt x="1580044" y="2446068"/>
                  </a:cubicBezTo>
                  <a:cubicBezTo>
                    <a:pt x="1673649" y="2451148"/>
                    <a:pt x="1768694" y="2444798"/>
                    <a:pt x="1856987" y="2449878"/>
                  </a:cubicBezTo>
                  <a:cubicBezTo>
                    <a:pt x="1877307" y="2451148"/>
                    <a:pt x="1897627" y="2449878"/>
                    <a:pt x="1920487" y="2449878"/>
                  </a:cubicBezTo>
                  <a:lnTo>
                    <a:pt x="1920487" y="2390188"/>
                  </a:lnTo>
                  <a:cubicBezTo>
                    <a:pt x="1919217" y="2308306"/>
                    <a:pt x="1917947" y="2218571"/>
                    <a:pt x="1917947" y="2123227"/>
                  </a:cubicBezTo>
                  <a:cubicBezTo>
                    <a:pt x="1917947" y="2012927"/>
                    <a:pt x="1921757" y="1900758"/>
                    <a:pt x="1915407" y="1790458"/>
                  </a:cubicBezTo>
                  <a:cubicBezTo>
                    <a:pt x="1907787" y="1717548"/>
                    <a:pt x="1896357" y="279912"/>
                    <a:pt x="1896357" y="207002"/>
                  </a:cubicBezTo>
                  <a:cubicBezTo>
                    <a:pt x="1893817" y="156526"/>
                    <a:pt x="1892547" y="104180"/>
                    <a:pt x="1890007" y="53704"/>
                  </a:cubicBezTo>
                  <a:cubicBezTo>
                    <a:pt x="1890007" y="38748"/>
                    <a:pt x="1888737" y="23792"/>
                    <a:pt x="1887467" y="5644"/>
                  </a:cubicBezTo>
                  <a:cubicBezTo>
                    <a:pt x="1877307" y="3104"/>
                    <a:pt x="1868417" y="1834"/>
                    <a:pt x="1858257" y="564"/>
                  </a:cubicBezTo>
                  <a:cubicBezTo>
                    <a:pt x="1850637" y="-706"/>
                    <a:pt x="1843017" y="564"/>
                    <a:pt x="1836667" y="564"/>
                  </a:cubicBezTo>
                  <a:lnTo>
                    <a:pt x="6044" y="5644"/>
                  </a:lnTo>
                  <a:lnTo>
                    <a:pt x="648" y="2420668"/>
                  </a:lnTo>
                  <a:close/>
                </a:path>
              </a:pathLst>
            </a:custGeom>
            <a:solidFill>
              <a:srgbClr val="BCD797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1430" y="16510"/>
              <a:ext cx="1899519" cy="2441694"/>
            </a:xfrm>
            <a:custGeom>
              <a:avLst/>
              <a:gdLst/>
              <a:ahLst/>
              <a:cxnLst/>
              <a:rect l="l" t="t" r="r" b="b"/>
              <a:pathLst>
                <a:path w="1899519" h="2441694">
                  <a:moveTo>
                    <a:pt x="1899519" y="2441694"/>
                  </a:moveTo>
                  <a:lnTo>
                    <a:pt x="0" y="2434074"/>
                  </a:lnTo>
                  <a:lnTo>
                    <a:pt x="0" y="863796"/>
                  </a:lnTo>
                  <a:lnTo>
                    <a:pt x="7620" y="20320"/>
                  </a:lnTo>
                  <a:lnTo>
                    <a:pt x="946173" y="0"/>
                  </a:lnTo>
                  <a:lnTo>
                    <a:pt x="1877929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-215" y="0"/>
              <a:ext cx="1923864" cy="2467658"/>
            </a:xfrm>
            <a:custGeom>
              <a:avLst/>
              <a:gdLst/>
              <a:ahLst/>
              <a:cxnLst/>
              <a:rect l="l" t="t" r="r" b="b"/>
              <a:pathLst>
                <a:path w="1923864" h="2467658">
                  <a:moveTo>
                    <a:pt x="1890844" y="21590"/>
                  </a:moveTo>
                  <a:cubicBezTo>
                    <a:pt x="1892114" y="34290"/>
                    <a:pt x="1892114" y="44450"/>
                    <a:pt x="1893384" y="55862"/>
                  </a:cubicBezTo>
                  <a:cubicBezTo>
                    <a:pt x="1895924" y="106338"/>
                    <a:pt x="1897194" y="158684"/>
                    <a:pt x="1899734" y="209160"/>
                  </a:cubicBezTo>
                  <a:cubicBezTo>
                    <a:pt x="1899734" y="282070"/>
                    <a:pt x="1912434" y="1719706"/>
                    <a:pt x="1918784" y="1792616"/>
                  </a:cubicBezTo>
                  <a:cubicBezTo>
                    <a:pt x="1925134" y="1902916"/>
                    <a:pt x="1921324" y="2015085"/>
                    <a:pt x="1921324" y="2125385"/>
                  </a:cubicBezTo>
                  <a:cubicBezTo>
                    <a:pt x="1921324" y="2222598"/>
                    <a:pt x="1922594" y="2312333"/>
                    <a:pt x="1923864" y="2407404"/>
                  </a:cubicBezTo>
                  <a:lnTo>
                    <a:pt x="1923864" y="2467094"/>
                  </a:lnTo>
                  <a:cubicBezTo>
                    <a:pt x="1901004" y="2467094"/>
                    <a:pt x="1880684" y="2468364"/>
                    <a:pt x="1860364" y="2467094"/>
                  </a:cubicBezTo>
                  <a:cubicBezTo>
                    <a:pt x="1767139" y="2462014"/>
                    <a:pt x="1672094" y="2468364"/>
                    <a:pt x="1578489" y="2463284"/>
                  </a:cubicBezTo>
                  <a:cubicBezTo>
                    <a:pt x="1522326" y="2459474"/>
                    <a:pt x="1467603" y="2462014"/>
                    <a:pt x="1411441" y="2459474"/>
                  </a:cubicBezTo>
                  <a:lnTo>
                    <a:pt x="1333677" y="2455664"/>
                  </a:lnTo>
                  <a:cubicBezTo>
                    <a:pt x="1317836" y="2455664"/>
                    <a:pt x="1303435" y="2456934"/>
                    <a:pt x="1287594" y="2456934"/>
                  </a:cubicBezTo>
                  <a:cubicBezTo>
                    <a:pt x="1247272" y="2455664"/>
                    <a:pt x="1136387" y="2456934"/>
                    <a:pt x="1096065" y="2455664"/>
                  </a:cubicBezTo>
                  <a:cubicBezTo>
                    <a:pt x="1067263" y="2454394"/>
                    <a:pt x="491234" y="2463284"/>
                    <a:pt x="462432" y="2462014"/>
                  </a:cubicBezTo>
                  <a:cubicBezTo>
                    <a:pt x="455232" y="2462014"/>
                    <a:pt x="446592" y="2463284"/>
                    <a:pt x="439391" y="2463284"/>
                  </a:cubicBezTo>
                  <a:cubicBezTo>
                    <a:pt x="422110" y="2463284"/>
                    <a:pt x="406270" y="2464554"/>
                    <a:pt x="388989" y="2464554"/>
                  </a:cubicBezTo>
                  <a:cubicBezTo>
                    <a:pt x="345787" y="2464554"/>
                    <a:pt x="304024" y="2463284"/>
                    <a:pt x="260822" y="2462014"/>
                  </a:cubicBezTo>
                  <a:cubicBezTo>
                    <a:pt x="234901" y="2460744"/>
                    <a:pt x="208980" y="2459474"/>
                    <a:pt x="184498" y="2458204"/>
                  </a:cubicBezTo>
                  <a:cubicBezTo>
                    <a:pt x="138416" y="2456934"/>
                    <a:pt x="92334" y="2455664"/>
                    <a:pt x="44811" y="2455664"/>
                  </a:cubicBezTo>
                  <a:cubicBezTo>
                    <a:pt x="34505" y="2455664"/>
                    <a:pt x="25615" y="2455664"/>
                    <a:pt x="15455" y="2454394"/>
                  </a:cubicBezTo>
                  <a:cubicBezTo>
                    <a:pt x="6565" y="2453124"/>
                    <a:pt x="1485" y="2446774"/>
                    <a:pt x="4025" y="2437884"/>
                  </a:cubicBezTo>
                  <a:cubicBezTo>
                    <a:pt x="12915" y="2405808"/>
                    <a:pt x="9105" y="2359071"/>
                    <a:pt x="7835" y="2310464"/>
                  </a:cubicBezTo>
                  <a:cubicBezTo>
                    <a:pt x="6565" y="2211381"/>
                    <a:pt x="2755" y="2114168"/>
                    <a:pt x="4025" y="2015085"/>
                  </a:cubicBezTo>
                  <a:cubicBezTo>
                    <a:pt x="1485" y="1891699"/>
                    <a:pt x="-3595" y="364327"/>
                    <a:pt x="4025" y="239072"/>
                  </a:cubicBezTo>
                  <a:cubicBezTo>
                    <a:pt x="5295" y="214768"/>
                    <a:pt x="4025" y="188595"/>
                    <a:pt x="5295" y="164292"/>
                  </a:cubicBezTo>
                  <a:cubicBezTo>
                    <a:pt x="6565" y="125033"/>
                    <a:pt x="9105" y="820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332" y="30480"/>
                    <a:pt x="79373" y="29210"/>
                  </a:cubicBezTo>
                  <a:cubicBezTo>
                    <a:pt x="118255" y="25400"/>
                    <a:pt x="157137" y="22860"/>
                    <a:pt x="197459" y="20320"/>
                  </a:cubicBezTo>
                  <a:cubicBezTo>
                    <a:pt x="224820" y="17780"/>
                    <a:pt x="252182" y="16510"/>
                    <a:pt x="278103" y="13970"/>
                  </a:cubicBezTo>
                  <a:cubicBezTo>
                    <a:pt x="304024" y="11430"/>
                    <a:pt x="331386" y="8890"/>
                    <a:pt x="357307" y="8890"/>
                  </a:cubicBezTo>
                  <a:cubicBezTo>
                    <a:pt x="386109" y="7620"/>
                    <a:pt x="414910" y="10160"/>
                    <a:pt x="443712" y="8890"/>
                  </a:cubicBezTo>
                  <a:cubicBezTo>
                    <a:pt x="479713" y="8890"/>
                    <a:pt x="1132066" y="6350"/>
                    <a:pt x="1168068" y="5080"/>
                  </a:cubicBezTo>
                  <a:cubicBezTo>
                    <a:pt x="1202630" y="3810"/>
                    <a:pt x="1237192" y="2540"/>
                    <a:pt x="1273194" y="2540"/>
                  </a:cubicBezTo>
                  <a:cubicBezTo>
                    <a:pt x="1332237" y="1270"/>
                    <a:pt x="1389839" y="0"/>
                    <a:pt x="1448882" y="0"/>
                  </a:cubicBezTo>
                  <a:cubicBezTo>
                    <a:pt x="1473364" y="0"/>
                    <a:pt x="1499285" y="2540"/>
                    <a:pt x="1523766" y="2540"/>
                  </a:cubicBezTo>
                  <a:cubicBezTo>
                    <a:pt x="1591450" y="3810"/>
                    <a:pt x="1660573" y="5080"/>
                    <a:pt x="1728257" y="7620"/>
                  </a:cubicBezTo>
                  <a:cubicBezTo>
                    <a:pt x="1764258" y="8890"/>
                    <a:pt x="1800260" y="12700"/>
                    <a:pt x="1836262" y="16510"/>
                  </a:cubicBezTo>
                  <a:lnTo>
                    <a:pt x="1860364" y="16510"/>
                  </a:lnTo>
                  <a:cubicBezTo>
                    <a:pt x="1871794" y="17780"/>
                    <a:pt x="1880684" y="20320"/>
                    <a:pt x="1890844" y="21590"/>
                  </a:cubicBezTo>
                  <a:close/>
                  <a:moveTo>
                    <a:pt x="1901004" y="2450584"/>
                  </a:moveTo>
                  <a:cubicBezTo>
                    <a:pt x="1902274" y="2434074"/>
                    <a:pt x="1903544" y="2421374"/>
                    <a:pt x="1903544" y="2408674"/>
                  </a:cubicBezTo>
                  <a:cubicBezTo>
                    <a:pt x="1902274" y="2302986"/>
                    <a:pt x="1901004" y="2203903"/>
                    <a:pt x="1901004" y="2097343"/>
                  </a:cubicBezTo>
                  <a:cubicBezTo>
                    <a:pt x="1901004" y="2048736"/>
                    <a:pt x="1903544" y="2000129"/>
                    <a:pt x="1902274" y="1951523"/>
                  </a:cubicBezTo>
                  <a:cubicBezTo>
                    <a:pt x="1902274" y="1906655"/>
                    <a:pt x="1901004" y="1859918"/>
                    <a:pt x="1899734" y="1815050"/>
                  </a:cubicBezTo>
                  <a:cubicBezTo>
                    <a:pt x="1894654" y="1745879"/>
                    <a:pt x="1883224" y="313851"/>
                    <a:pt x="1883224" y="244680"/>
                  </a:cubicBezTo>
                  <a:cubicBezTo>
                    <a:pt x="1880684" y="186726"/>
                    <a:pt x="1878144" y="126902"/>
                    <a:pt x="1875604" y="68948"/>
                  </a:cubicBezTo>
                  <a:cubicBezTo>
                    <a:pt x="1874334" y="44450"/>
                    <a:pt x="1873064" y="43180"/>
                    <a:pt x="1856423" y="41910"/>
                  </a:cubicBezTo>
                  <a:cubicBezTo>
                    <a:pt x="1852103" y="41910"/>
                    <a:pt x="1849223" y="41910"/>
                    <a:pt x="1844902" y="40640"/>
                  </a:cubicBezTo>
                  <a:cubicBezTo>
                    <a:pt x="1808901" y="36830"/>
                    <a:pt x="1771459" y="31750"/>
                    <a:pt x="1735457" y="30480"/>
                  </a:cubicBezTo>
                  <a:cubicBezTo>
                    <a:pt x="1647613" y="26670"/>
                    <a:pt x="1558328" y="25400"/>
                    <a:pt x="1470483" y="22860"/>
                  </a:cubicBezTo>
                  <a:lnTo>
                    <a:pt x="1366798" y="22860"/>
                  </a:lnTo>
                  <a:cubicBezTo>
                    <a:pt x="1320716" y="22860"/>
                    <a:pt x="1274634" y="22860"/>
                    <a:pt x="1229991" y="24130"/>
                  </a:cubicBezTo>
                  <a:cubicBezTo>
                    <a:pt x="1191109" y="25400"/>
                    <a:pt x="535876" y="29210"/>
                    <a:pt x="496994" y="29210"/>
                  </a:cubicBezTo>
                  <a:cubicBezTo>
                    <a:pt x="433631" y="29210"/>
                    <a:pt x="370268" y="26670"/>
                    <a:pt x="306905" y="33020"/>
                  </a:cubicBezTo>
                  <a:cubicBezTo>
                    <a:pt x="273783" y="36830"/>
                    <a:pt x="242101" y="36830"/>
                    <a:pt x="210420" y="38100"/>
                  </a:cubicBezTo>
                  <a:cubicBezTo>
                    <a:pt x="155697" y="41910"/>
                    <a:pt x="100974" y="45720"/>
                    <a:pt x="46251" y="50800"/>
                  </a:cubicBezTo>
                  <a:cubicBezTo>
                    <a:pt x="33235" y="50800"/>
                    <a:pt x="30695" y="53992"/>
                    <a:pt x="29425" y="76426"/>
                  </a:cubicBezTo>
                  <a:cubicBezTo>
                    <a:pt x="28155" y="110077"/>
                    <a:pt x="28155" y="143728"/>
                    <a:pt x="26885" y="177379"/>
                  </a:cubicBezTo>
                  <a:cubicBezTo>
                    <a:pt x="25615" y="233463"/>
                    <a:pt x="23075" y="287678"/>
                    <a:pt x="21805" y="343763"/>
                  </a:cubicBezTo>
                  <a:cubicBezTo>
                    <a:pt x="16725" y="403587"/>
                    <a:pt x="23075" y="1865526"/>
                    <a:pt x="25615" y="1925350"/>
                  </a:cubicBezTo>
                  <a:cubicBezTo>
                    <a:pt x="25615" y="1988912"/>
                    <a:pt x="25615" y="2054344"/>
                    <a:pt x="26885" y="2117907"/>
                  </a:cubicBezTo>
                  <a:cubicBezTo>
                    <a:pt x="26885" y="2164644"/>
                    <a:pt x="29425" y="2211381"/>
                    <a:pt x="29425" y="2258118"/>
                  </a:cubicBezTo>
                  <a:cubicBezTo>
                    <a:pt x="29425" y="2308595"/>
                    <a:pt x="29425" y="2359071"/>
                    <a:pt x="28155" y="2408674"/>
                  </a:cubicBezTo>
                  <a:lnTo>
                    <a:pt x="28155" y="2418834"/>
                  </a:lnTo>
                  <a:cubicBezTo>
                    <a:pt x="28155" y="2428994"/>
                    <a:pt x="31965" y="2432804"/>
                    <a:pt x="40855" y="2432804"/>
                  </a:cubicBezTo>
                  <a:cubicBezTo>
                    <a:pt x="59212" y="2432804"/>
                    <a:pt x="79373" y="2434074"/>
                    <a:pt x="98094" y="2434074"/>
                  </a:cubicBezTo>
                  <a:cubicBezTo>
                    <a:pt x="125455" y="2434074"/>
                    <a:pt x="154257" y="2431534"/>
                    <a:pt x="181618" y="2434074"/>
                  </a:cubicBezTo>
                  <a:cubicBezTo>
                    <a:pt x="226261" y="2437884"/>
                    <a:pt x="270903" y="2440424"/>
                    <a:pt x="315545" y="2439154"/>
                  </a:cubicBezTo>
                  <a:cubicBezTo>
                    <a:pt x="344347" y="2437884"/>
                    <a:pt x="371708" y="2440424"/>
                    <a:pt x="400509" y="2440424"/>
                  </a:cubicBezTo>
                  <a:cubicBezTo>
                    <a:pt x="442271" y="2440424"/>
                    <a:pt x="484034" y="2439154"/>
                    <a:pt x="525796" y="2440424"/>
                  </a:cubicBezTo>
                  <a:cubicBezTo>
                    <a:pt x="587719" y="2441694"/>
                    <a:pt x="1267433" y="2431534"/>
                    <a:pt x="1330796" y="2434074"/>
                  </a:cubicBezTo>
                  <a:cubicBezTo>
                    <a:pt x="1358158" y="2435344"/>
                    <a:pt x="1385519" y="2436614"/>
                    <a:pt x="1411441" y="2436614"/>
                  </a:cubicBezTo>
                  <a:cubicBezTo>
                    <a:pt x="1458963" y="2439154"/>
                    <a:pt x="1505045" y="2435344"/>
                    <a:pt x="1552568" y="2439154"/>
                  </a:cubicBezTo>
                  <a:cubicBezTo>
                    <a:pt x="1591450" y="2441694"/>
                    <a:pt x="1630332" y="2441694"/>
                    <a:pt x="1669214" y="2444234"/>
                  </a:cubicBezTo>
                  <a:cubicBezTo>
                    <a:pt x="1726817" y="2448044"/>
                    <a:pt x="1784419" y="2450584"/>
                    <a:pt x="1842022" y="2451854"/>
                  </a:cubicBezTo>
                  <a:cubicBezTo>
                    <a:pt x="1862904" y="2451854"/>
                    <a:pt x="1880684" y="2450584"/>
                    <a:pt x="1901004" y="245058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604124" y="4852450"/>
            <a:ext cx="3810000" cy="4851323"/>
            <a:chOff x="0" y="0"/>
            <a:chExt cx="1960479" cy="2496304"/>
          </a:xfrm>
        </p:grpSpPr>
        <p:sp>
          <p:nvSpPr>
            <p:cNvPr id="17" name="Freeform 17"/>
            <p:cNvSpPr/>
            <p:nvPr/>
          </p:nvSpPr>
          <p:spPr>
            <a:xfrm>
              <a:off x="39992" y="45156"/>
              <a:ext cx="1920487" cy="2450443"/>
            </a:xfrm>
            <a:custGeom>
              <a:avLst/>
              <a:gdLst/>
              <a:ahLst/>
              <a:cxnLst/>
              <a:rect l="l" t="t" r="r" b="b"/>
              <a:pathLst>
                <a:path w="1920487" h="2450443">
                  <a:moveTo>
                    <a:pt x="648" y="2420668"/>
                  </a:moveTo>
                  <a:cubicBezTo>
                    <a:pt x="-1892" y="2429558"/>
                    <a:pt x="3188" y="2435908"/>
                    <a:pt x="13245" y="2437178"/>
                  </a:cubicBezTo>
                  <a:cubicBezTo>
                    <a:pt x="24765" y="2438448"/>
                    <a:pt x="34846" y="2438448"/>
                    <a:pt x="46366" y="2438448"/>
                  </a:cubicBezTo>
                  <a:cubicBezTo>
                    <a:pt x="92449" y="2439718"/>
                    <a:pt x="138531" y="2439718"/>
                    <a:pt x="186054" y="2440988"/>
                  </a:cubicBezTo>
                  <a:cubicBezTo>
                    <a:pt x="211975" y="2442258"/>
                    <a:pt x="237896" y="2443528"/>
                    <a:pt x="262377" y="2444798"/>
                  </a:cubicBezTo>
                  <a:cubicBezTo>
                    <a:pt x="305580" y="2446068"/>
                    <a:pt x="347342" y="2446068"/>
                    <a:pt x="390544" y="2447338"/>
                  </a:cubicBezTo>
                  <a:cubicBezTo>
                    <a:pt x="407825" y="2447338"/>
                    <a:pt x="423666" y="2447338"/>
                    <a:pt x="440946" y="2446068"/>
                  </a:cubicBezTo>
                  <a:cubicBezTo>
                    <a:pt x="448147" y="2446068"/>
                    <a:pt x="456787" y="2444798"/>
                    <a:pt x="463988" y="2444798"/>
                  </a:cubicBezTo>
                  <a:cubicBezTo>
                    <a:pt x="492789" y="2446068"/>
                    <a:pt x="1068818" y="2437178"/>
                    <a:pt x="1097620" y="2438448"/>
                  </a:cubicBezTo>
                  <a:cubicBezTo>
                    <a:pt x="1137942" y="2439718"/>
                    <a:pt x="1248827" y="2439718"/>
                    <a:pt x="1289149" y="2439718"/>
                  </a:cubicBezTo>
                  <a:cubicBezTo>
                    <a:pt x="1304990" y="2439718"/>
                    <a:pt x="1319391" y="2438448"/>
                    <a:pt x="1335232" y="2438448"/>
                  </a:cubicBezTo>
                  <a:lnTo>
                    <a:pt x="1412996" y="2442258"/>
                  </a:lnTo>
                  <a:cubicBezTo>
                    <a:pt x="1469159" y="2444798"/>
                    <a:pt x="1523881" y="2442258"/>
                    <a:pt x="1580044" y="2446068"/>
                  </a:cubicBezTo>
                  <a:cubicBezTo>
                    <a:pt x="1673649" y="2451148"/>
                    <a:pt x="1768694" y="2444798"/>
                    <a:pt x="1856987" y="2449878"/>
                  </a:cubicBezTo>
                  <a:cubicBezTo>
                    <a:pt x="1877307" y="2451148"/>
                    <a:pt x="1897627" y="2449878"/>
                    <a:pt x="1920487" y="2449878"/>
                  </a:cubicBezTo>
                  <a:lnTo>
                    <a:pt x="1920487" y="2390188"/>
                  </a:lnTo>
                  <a:cubicBezTo>
                    <a:pt x="1919217" y="2308306"/>
                    <a:pt x="1917947" y="2218571"/>
                    <a:pt x="1917947" y="2123227"/>
                  </a:cubicBezTo>
                  <a:cubicBezTo>
                    <a:pt x="1917947" y="2012927"/>
                    <a:pt x="1921757" y="1900758"/>
                    <a:pt x="1915407" y="1790458"/>
                  </a:cubicBezTo>
                  <a:cubicBezTo>
                    <a:pt x="1907787" y="1717548"/>
                    <a:pt x="1896357" y="279912"/>
                    <a:pt x="1896357" y="207002"/>
                  </a:cubicBezTo>
                  <a:cubicBezTo>
                    <a:pt x="1893817" y="156526"/>
                    <a:pt x="1892547" y="104180"/>
                    <a:pt x="1890007" y="53704"/>
                  </a:cubicBezTo>
                  <a:cubicBezTo>
                    <a:pt x="1890007" y="38748"/>
                    <a:pt x="1888737" y="23792"/>
                    <a:pt x="1887467" y="5644"/>
                  </a:cubicBezTo>
                  <a:cubicBezTo>
                    <a:pt x="1877307" y="3104"/>
                    <a:pt x="1868417" y="1834"/>
                    <a:pt x="1858257" y="564"/>
                  </a:cubicBezTo>
                  <a:cubicBezTo>
                    <a:pt x="1850637" y="-706"/>
                    <a:pt x="1843017" y="564"/>
                    <a:pt x="1836667" y="564"/>
                  </a:cubicBezTo>
                  <a:lnTo>
                    <a:pt x="6044" y="5644"/>
                  </a:lnTo>
                  <a:lnTo>
                    <a:pt x="648" y="2420668"/>
                  </a:lnTo>
                  <a:close/>
                </a:path>
              </a:pathLst>
            </a:custGeom>
            <a:solidFill>
              <a:srgbClr val="8DD5DA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430" y="16510"/>
              <a:ext cx="1899519" cy="2441694"/>
            </a:xfrm>
            <a:custGeom>
              <a:avLst/>
              <a:gdLst/>
              <a:ahLst/>
              <a:cxnLst/>
              <a:rect l="l" t="t" r="r" b="b"/>
              <a:pathLst>
                <a:path w="1899519" h="2441694">
                  <a:moveTo>
                    <a:pt x="1899519" y="2441694"/>
                  </a:moveTo>
                  <a:lnTo>
                    <a:pt x="0" y="2434074"/>
                  </a:lnTo>
                  <a:lnTo>
                    <a:pt x="0" y="863796"/>
                  </a:lnTo>
                  <a:lnTo>
                    <a:pt x="7620" y="20320"/>
                  </a:lnTo>
                  <a:lnTo>
                    <a:pt x="946173" y="0"/>
                  </a:lnTo>
                  <a:lnTo>
                    <a:pt x="1877929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-215" y="0"/>
              <a:ext cx="1923864" cy="2467658"/>
            </a:xfrm>
            <a:custGeom>
              <a:avLst/>
              <a:gdLst/>
              <a:ahLst/>
              <a:cxnLst/>
              <a:rect l="l" t="t" r="r" b="b"/>
              <a:pathLst>
                <a:path w="1923864" h="2467658">
                  <a:moveTo>
                    <a:pt x="1890844" y="21590"/>
                  </a:moveTo>
                  <a:cubicBezTo>
                    <a:pt x="1892114" y="34290"/>
                    <a:pt x="1892114" y="44450"/>
                    <a:pt x="1893384" y="55862"/>
                  </a:cubicBezTo>
                  <a:cubicBezTo>
                    <a:pt x="1895924" y="106338"/>
                    <a:pt x="1897194" y="158684"/>
                    <a:pt x="1899734" y="209160"/>
                  </a:cubicBezTo>
                  <a:cubicBezTo>
                    <a:pt x="1899734" y="282070"/>
                    <a:pt x="1912434" y="1719706"/>
                    <a:pt x="1918784" y="1792616"/>
                  </a:cubicBezTo>
                  <a:cubicBezTo>
                    <a:pt x="1925134" y="1902916"/>
                    <a:pt x="1921324" y="2015085"/>
                    <a:pt x="1921324" y="2125385"/>
                  </a:cubicBezTo>
                  <a:cubicBezTo>
                    <a:pt x="1921324" y="2222598"/>
                    <a:pt x="1922594" y="2312333"/>
                    <a:pt x="1923864" y="2407404"/>
                  </a:cubicBezTo>
                  <a:lnTo>
                    <a:pt x="1923864" y="2467094"/>
                  </a:lnTo>
                  <a:cubicBezTo>
                    <a:pt x="1901004" y="2467094"/>
                    <a:pt x="1880684" y="2468364"/>
                    <a:pt x="1860364" y="2467094"/>
                  </a:cubicBezTo>
                  <a:cubicBezTo>
                    <a:pt x="1767139" y="2462014"/>
                    <a:pt x="1672094" y="2468364"/>
                    <a:pt x="1578489" y="2463284"/>
                  </a:cubicBezTo>
                  <a:cubicBezTo>
                    <a:pt x="1522326" y="2459474"/>
                    <a:pt x="1467603" y="2462014"/>
                    <a:pt x="1411441" y="2459474"/>
                  </a:cubicBezTo>
                  <a:lnTo>
                    <a:pt x="1333677" y="2455664"/>
                  </a:lnTo>
                  <a:cubicBezTo>
                    <a:pt x="1317836" y="2455664"/>
                    <a:pt x="1303435" y="2456934"/>
                    <a:pt x="1287594" y="2456934"/>
                  </a:cubicBezTo>
                  <a:cubicBezTo>
                    <a:pt x="1247272" y="2455664"/>
                    <a:pt x="1136387" y="2456934"/>
                    <a:pt x="1096065" y="2455664"/>
                  </a:cubicBezTo>
                  <a:cubicBezTo>
                    <a:pt x="1067263" y="2454394"/>
                    <a:pt x="491234" y="2463284"/>
                    <a:pt x="462432" y="2462014"/>
                  </a:cubicBezTo>
                  <a:cubicBezTo>
                    <a:pt x="455232" y="2462014"/>
                    <a:pt x="446592" y="2463284"/>
                    <a:pt x="439391" y="2463284"/>
                  </a:cubicBezTo>
                  <a:cubicBezTo>
                    <a:pt x="422110" y="2463284"/>
                    <a:pt x="406270" y="2464554"/>
                    <a:pt x="388989" y="2464554"/>
                  </a:cubicBezTo>
                  <a:cubicBezTo>
                    <a:pt x="345787" y="2464554"/>
                    <a:pt x="304024" y="2463284"/>
                    <a:pt x="260822" y="2462014"/>
                  </a:cubicBezTo>
                  <a:cubicBezTo>
                    <a:pt x="234901" y="2460744"/>
                    <a:pt x="208980" y="2459474"/>
                    <a:pt x="184498" y="2458204"/>
                  </a:cubicBezTo>
                  <a:cubicBezTo>
                    <a:pt x="138416" y="2456934"/>
                    <a:pt x="92334" y="2455664"/>
                    <a:pt x="44811" y="2455664"/>
                  </a:cubicBezTo>
                  <a:cubicBezTo>
                    <a:pt x="34505" y="2455664"/>
                    <a:pt x="25615" y="2455664"/>
                    <a:pt x="15455" y="2454394"/>
                  </a:cubicBezTo>
                  <a:cubicBezTo>
                    <a:pt x="6565" y="2453124"/>
                    <a:pt x="1485" y="2446774"/>
                    <a:pt x="4025" y="2437884"/>
                  </a:cubicBezTo>
                  <a:cubicBezTo>
                    <a:pt x="12915" y="2405808"/>
                    <a:pt x="9105" y="2359071"/>
                    <a:pt x="7835" y="2310464"/>
                  </a:cubicBezTo>
                  <a:cubicBezTo>
                    <a:pt x="6565" y="2211381"/>
                    <a:pt x="2755" y="2114168"/>
                    <a:pt x="4025" y="2015085"/>
                  </a:cubicBezTo>
                  <a:cubicBezTo>
                    <a:pt x="1485" y="1891699"/>
                    <a:pt x="-3595" y="364327"/>
                    <a:pt x="4025" y="239072"/>
                  </a:cubicBezTo>
                  <a:cubicBezTo>
                    <a:pt x="5295" y="214768"/>
                    <a:pt x="4025" y="188595"/>
                    <a:pt x="5295" y="164292"/>
                  </a:cubicBezTo>
                  <a:cubicBezTo>
                    <a:pt x="6565" y="125033"/>
                    <a:pt x="9105" y="820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332" y="30480"/>
                    <a:pt x="79373" y="29210"/>
                  </a:cubicBezTo>
                  <a:cubicBezTo>
                    <a:pt x="118255" y="25400"/>
                    <a:pt x="157137" y="22860"/>
                    <a:pt x="197459" y="20320"/>
                  </a:cubicBezTo>
                  <a:cubicBezTo>
                    <a:pt x="224820" y="17780"/>
                    <a:pt x="252182" y="16510"/>
                    <a:pt x="278103" y="13970"/>
                  </a:cubicBezTo>
                  <a:cubicBezTo>
                    <a:pt x="304024" y="11430"/>
                    <a:pt x="331386" y="8890"/>
                    <a:pt x="357307" y="8890"/>
                  </a:cubicBezTo>
                  <a:cubicBezTo>
                    <a:pt x="386109" y="7620"/>
                    <a:pt x="414910" y="10160"/>
                    <a:pt x="443712" y="8890"/>
                  </a:cubicBezTo>
                  <a:cubicBezTo>
                    <a:pt x="479713" y="8890"/>
                    <a:pt x="1132066" y="6350"/>
                    <a:pt x="1168068" y="5080"/>
                  </a:cubicBezTo>
                  <a:cubicBezTo>
                    <a:pt x="1202630" y="3810"/>
                    <a:pt x="1237192" y="2540"/>
                    <a:pt x="1273194" y="2540"/>
                  </a:cubicBezTo>
                  <a:cubicBezTo>
                    <a:pt x="1332237" y="1270"/>
                    <a:pt x="1389839" y="0"/>
                    <a:pt x="1448882" y="0"/>
                  </a:cubicBezTo>
                  <a:cubicBezTo>
                    <a:pt x="1473364" y="0"/>
                    <a:pt x="1499285" y="2540"/>
                    <a:pt x="1523766" y="2540"/>
                  </a:cubicBezTo>
                  <a:cubicBezTo>
                    <a:pt x="1591450" y="3810"/>
                    <a:pt x="1660573" y="5080"/>
                    <a:pt x="1728257" y="7620"/>
                  </a:cubicBezTo>
                  <a:cubicBezTo>
                    <a:pt x="1764258" y="8890"/>
                    <a:pt x="1800260" y="12700"/>
                    <a:pt x="1836262" y="16510"/>
                  </a:cubicBezTo>
                  <a:lnTo>
                    <a:pt x="1860364" y="16510"/>
                  </a:lnTo>
                  <a:cubicBezTo>
                    <a:pt x="1871794" y="17780"/>
                    <a:pt x="1880684" y="20320"/>
                    <a:pt x="1890844" y="21590"/>
                  </a:cubicBezTo>
                  <a:close/>
                  <a:moveTo>
                    <a:pt x="1901004" y="2450584"/>
                  </a:moveTo>
                  <a:cubicBezTo>
                    <a:pt x="1902274" y="2434074"/>
                    <a:pt x="1903544" y="2421374"/>
                    <a:pt x="1903544" y="2408674"/>
                  </a:cubicBezTo>
                  <a:cubicBezTo>
                    <a:pt x="1902274" y="2302986"/>
                    <a:pt x="1901004" y="2203903"/>
                    <a:pt x="1901004" y="2097343"/>
                  </a:cubicBezTo>
                  <a:cubicBezTo>
                    <a:pt x="1901004" y="2048736"/>
                    <a:pt x="1903544" y="2000129"/>
                    <a:pt x="1902274" y="1951523"/>
                  </a:cubicBezTo>
                  <a:cubicBezTo>
                    <a:pt x="1902274" y="1906655"/>
                    <a:pt x="1901004" y="1859918"/>
                    <a:pt x="1899734" y="1815050"/>
                  </a:cubicBezTo>
                  <a:cubicBezTo>
                    <a:pt x="1894654" y="1745879"/>
                    <a:pt x="1883224" y="313851"/>
                    <a:pt x="1883224" y="244680"/>
                  </a:cubicBezTo>
                  <a:cubicBezTo>
                    <a:pt x="1880684" y="186726"/>
                    <a:pt x="1878144" y="126902"/>
                    <a:pt x="1875604" y="68948"/>
                  </a:cubicBezTo>
                  <a:cubicBezTo>
                    <a:pt x="1874334" y="44450"/>
                    <a:pt x="1873064" y="43180"/>
                    <a:pt x="1856423" y="41910"/>
                  </a:cubicBezTo>
                  <a:cubicBezTo>
                    <a:pt x="1852103" y="41910"/>
                    <a:pt x="1849223" y="41910"/>
                    <a:pt x="1844902" y="40640"/>
                  </a:cubicBezTo>
                  <a:cubicBezTo>
                    <a:pt x="1808901" y="36830"/>
                    <a:pt x="1771459" y="31750"/>
                    <a:pt x="1735457" y="30480"/>
                  </a:cubicBezTo>
                  <a:cubicBezTo>
                    <a:pt x="1647613" y="26670"/>
                    <a:pt x="1558328" y="25400"/>
                    <a:pt x="1470483" y="22860"/>
                  </a:cubicBezTo>
                  <a:lnTo>
                    <a:pt x="1366798" y="22860"/>
                  </a:lnTo>
                  <a:cubicBezTo>
                    <a:pt x="1320716" y="22860"/>
                    <a:pt x="1274634" y="22860"/>
                    <a:pt x="1229991" y="24130"/>
                  </a:cubicBezTo>
                  <a:cubicBezTo>
                    <a:pt x="1191109" y="25400"/>
                    <a:pt x="535876" y="29210"/>
                    <a:pt x="496994" y="29210"/>
                  </a:cubicBezTo>
                  <a:cubicBezTo>
                    <a:pt x="433631" y="29210"/>
                    <a:pt x="370268" y="26670"/>
                    <a:pt x="306905" y="33020"/>
                  </a:cubicBezTo>
                  <a:cubicBezTo>
                    <a:pt x="273783" y="36830"/>
                    <a:pt x="242101" y="36830"/>
                    <a:pt x="210420" y="38100"/>
                  </a:cubicBezTo>
                  <a:cubicBezTo>
                    <a:pt x="155697" y="41910"/>
                    <a:pt x="100974" y="45720"/>
                    <a:pt x="46251" y="50800"/>
                  </a:cubicBezTo>
                  <a:cubicBezTo>
                    <a:pt x="33235" y="50800"/>
                    <a:pt x="30695" y="53992"/>
                    <a:pt x="29425" y="76426"/>
                  </a:cubicBezTo>
                  <a:cubicBezTo>
                    <a:pt x="28155" y="110077"/>
                    <a:pt x="28155" y="143728"/>
                    <a:pt x="26885" y="177379"/>
                  </a:cubicBezTo>
                  <a:cubicBezTo>
                    <a:pt x="25615" y="233463"/>
                    <a:pt x="23075" y="287678"/>
                    <a:pt x="21805" y="343763"/>
                  </a:cubicBezTo>
                  <a:cubicBezTo>
                    <a:pt x="16725" y="403587"/>
                    <a:pt x="23075" y="1865526"/>
                    <a:pt x="25615" y="1925350"/>
                  </a:cubicBezTo>
                  <a:cubicBezTo>
                    <a:pt x="25615" y="1988912"/>
                    <a:pt x="25615" y="2054344"/>
                    <a:pt x="26885" y="2117907"/>
                  </a:cubicBezTo>
                  <a:cubicBezTo>
                    <a:pt x="26885" y="2164644"/>
                    <a:pt x="29425" y="2211381"/>
                    <a:pt x="29425" y="2258118"/>
                  </a:cubicBezTo>
                  <a:cubicBezTo>
                    <a:pt x="29425" y="2308595"/>
                    <a:pt x="29425" y="2359071"/>
                    <a:pt x="28155" y="2408674"/>
                  </a:cubicBezTo>
                  <a:lnTo>
                    <a:pt x="28155" y="2418834"/>
                  </a:lnTo>
                  <a:cubicBezTo>
                    <a:pt x="28155" y="2428994"/>
                    <a:pt x="31965" y="2432804"/>
                    <a:pt x="40855" y="2432804"/>
                  </a:cubicBezTo>
                  <a:cubicBezTo>
                    <a:pt x="59212" y="2432804"/>
                    <a:pt x="79373" y="2434074"/>
                    <a:pt x="98094" y="2434074"/>
                  </a:cubicBezTo>
                  <a:cubicBezTo>
                    <a:pt x="125455" y="2434074"/>
                    <a:pt x="154257" y="2431534"/>
                    <a:pt x="181618" y="2434074"/>
                  </a:cubicBezTo>
                  <a:cubicBezTo>
                    <a:pt x="226261" y="2437884"/>
                    <a:pt x="270903" y="2440424"/>
                    <a:pt x="315545" y="2439154"/>
                  </a:cubicBezTo>
                  <a:cubicBezTo>
                    <a:pt x="344347" y="2437884"/>
                    <a:pt x="371708" y="2440424"/>
                    <a:pt x="400509" y="2440424"/>
                  </a:cubicBezTo>
                  <a:cubicBezTo>
                    <a:pt x="442271" y="2440424"/>
                    <a:pt x="484034" y="2439154"/>
                    <a:pt x="525796" y="2440424"/>
                  </a:cubicBezTo>
                  <a:cubicBezTo>
                    <a:pt x="587719" y="2441694"/>
                    <a:pt x="1267433" y="2431534"/>
                    <a:pt x="1330796" y="2434074"/>
                  </a:cubicBezTo>
                  <a:cubicBezTo>
                    <a:pt x="1358158" y="2435344"/>
                    <a:pt x="1385519" y="2436614"/>
                    <a:pt x="1411441" y="2436614"/>
                  </a:cubicBezTo>
                  <a:cubicBezTo>
                    <a:pt x="1458963" y="2439154"/>
                    <a:pt x="1505045" y="2435344"/>
                    <a:pt x="1552568" y="2439154"/>
                  </a:cubicBezTo>
                  <a:cubicBezTo>
                    <a:pt x="1591450" y="2441694"/>
                    <a:pt x="1630332" y="2441694"/>
                    <a:pt x="1669214" y="2444234"/>
                  </a:cubicBezTo>
                  <a:cubicBezTo>
                    <a:pt x="1726817" y="2448044"/>
                    <a:pt x="1784419" y="2450584"/>
                    <a:pt x="1842022" y="2451854"/>
                  </a:cubicBezTo>
                  <a:cubicBezTo>
                    <a:pt x="1862904" y="2451854"/>
                    <a:pt x="1880684" y="2450584"/>
                    <a:pt x="1901004" y="245058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117292" y="4852450"/>
            <a:ext cx="3810000" cy="4851323"/>
            <a:chOff x="0" y="0"/>
            <a:chExt cx="1960479" cy="2496304"/>
          </a:xfrm>
        </p:grpSpPr>
        <p:sp>
          <p:nvSpPr>
            <p:cNvPr id="21" name="Freeform 21"/>
            <p:cNvSpPr/>
            <p:nvPr/>
          </p:nvSpPr>
          <p:spPr>
            <a:xfrm>
              <a:off x="39992" y="45156"/>
              <a:ext cx="1920487" cy="2450443"/>
            </a:xfrm>
            <a:custGeom>
              <a:avLst/>
              <a:gdLst/>
              <a:ahLst/>
              <a:cxnLst/>
              <a:rect l="l" t="t" r="r" b="b"/>
              <a:pathLst>
                <a:path w="1920487" h="2450443">
                  <a:moveTo>
                    <a:pt x="648" y="2420668"/>
                  </a:moveTo>
                  <a:cubicBezTo>
                    <a:pt x="-1892" y="2429558"/>
                    <a:pt x="3188" y="2435908"/>
                    <a:pt x="13245" y="2437178"/>
                  </a:cubicBezTo>
                  <a:cubicBezTo>
                    <a:pt x="24765" y="2438448"/>
                    <a:pt x="34846" y="2438448"/>
                    <a:pt x="46366" y="2438448"/>
                  </a:cubicBezTo>
                  <a:cubicBezTo>
                    <a:pt x="92449" y="2439718"/>
                    <a:pt x="138531" y="2439718"/>
                    <a:pt x="186054" y="2440988"/>
                  </a:cubicBezTo>
                  <a:cubicBezTo>
                    <a:pt x="211975" y="2442258"/>
                    <a:pt x="237896" y="2443528"/>
                    <a:pt x="262377" y="2444798"/>
                  </a:cubicBezTo>
                  <a:cubicBezTo>
                    <a:pt x="305580" y="2446068"/>
                    <a:pt x="347342" y="2446068"/>
                    <a:pt x="390544" y="2447338"/>
                  </a:cubicBezTo>
                  <a:cubicBezTo>
                    <a:pt x="407825" y="2447338"/>
                    <a:pt x="423666" y="2447338"/>
                    <a:pt x="440946" y="2446068"/>
                  </a:cubicBezTo>
                  <a:cubicBezTo>
                    <a:pt x="448147" y="2446068"/>
                    <a:pt x="456787" y="2444798"/>
                    <a:pt x="463988" y="2444798"/>
                  </a:cubicBezTo>
                  <a:cubicBezTo>
                    <a:pt x="492789" y="2446068"/>
                    <a:pt x="1068818" y="2437178"/>
                    <a:pt x="1097620" y="2438448"/>
                  </a:cubicBezTo>
                  <a:cubicBezTo>
                    <a:pt x="1137942" y="2439718"/>
                    <a:pt x="1248827" y="2439718"/>
                    <a:pt x="1289149" y="2439718"/>
                  </a:cubicBezTo>
                  <a:cubicBezTo>
                    <a:pt x="1304990" y="2439718"/>
                    <a:pt x="1319391" y="2438448"/>
                    <a:pt x="1335232" y="2438448"/>
                  </a:cubicBezTo>
                  <a:lnTo>
                    <a:pt x="1412996" y="2442258"/>
                  </a:lnTo>
                  <a:cubicBezTo>
                    <a:pt x="1469159" y="2444798"/>
                    <a:pt x="1523881" y="2442258"/>
                    <a:pt x="1580044" y="2446068"/>
                  </a:cubicBezTo>
                  <a:cubicBezTo>
                    <a:pt x="1673649" y="2451148"/>
                    <a:pt x="1768694" y="2444798"/>
                    <a:pt x="1856987" y="2449878"/>
                  </a:cubicBezTo>
                  <a:cubicBezTo>
                    <a:pt x="1877307" y="2451148"/>
                    <a:pt x="1897627" y="2449878"/>
                    <a:pt x="1920487" y="2449878"/>
                  </a:cubicBezTo>
                  <a:lnTo>
                    <a:pt x="1920487" y="2390188"/>
                  </a:lnTo>
                  <a:cubicBezTo>
                    <a:pt x="1919217" y="2308306"/>
                    <a:pt x="1917947" y="2218571"/>
                    <a:pt x="1917947" y="2123227"/>
                  </a:cubicBezTo>
                  <a:cubicBezTo>
                    <a:pt x="1917947" y="2012927"/>
                    <a:pt x="1921757" y="1900758"/>
                    <a:pt x="1915407" y="1790458"/>
                  </a:cubicBezTo>
                  <a:cubicBezTo>
                    <a:pt x="1907787" y="1717548"/>
                    <a:pt x="1896357" y="279912"/>
                    <a:pt x="1896357" y="207002"/>
                  </a:cubicBezTo>
                  <a:cubicBezTo>
                    <a:pt x="1893817" y="156526"/>
                    <a:pt x="1892547" y="104180"/>
                    <a:pt x="1890007" y="53704"/>
                  </a:cubicBezTo>
                  <a:cubicBezTo>
                    <a:pt x="1890007" y="38748"/>
                    <a:pt x="1888737" y="23792"/>
                    <a:pt x="1887467" y="5644"/>
                  </a:cubicBezTo>
                  <a:cubicBezTo>
                    <a:pt x="1877307" y="3104"/>
                    <a:pt x="1868417" y="1834"/>
                    <a:pt x="1858257" y="564"/>
                  </a:cubicBezTo>
                  <a:cubicBezTo>
                    <a:pt x="1850637" y="-706"/>
                    <a:pt x="1843017" y="564"/>
                    <a:pt x="1836667" y="564"/>
                  </a:cubicBezTo>
                  <a:lnTo>
                    <a:pt x="6044" y="5644"/>
                  </a:lnTo>
                  <a:lnTo>
                    <a:pt x="648" y="2420668"/>
                  </a:lnTo>
                  <a:close/>
                </a:path>
              </a:pathLst>
            </a:custGeom>
            <a:solidFill>
              <a:srgbClr val="AABCE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1430" y="16510"/>
              <a:ext cx="1899519" cy="2441694"/>
            </a:xfrm>
            <a:custGeom>
              <a:avLst/>
              <a:gdLst/>
              <a:ahLst/>
              <a:cxnLst/>
              <a:rect l="l" t="t" r="r" b="b"/>
              <a:pathLst>
                <a:path w="1899519" h="2441694">
                  <a:moveTo>
                    <a:pt x="1899519" y="2441694"/>
                  </a:moveTo>
                  <a:lnTo>
                    <a:pt x="0" y="2434074"/>
                  </a:lnTo>
                  <a:lnTo>
                    <a:pt x="0" y="863796"/>
                  </a:lnTo>
                  <a:lnTo>
                    <a:pt x="7620" y="20320"/>
                  </a:lnTo>
                  <a:lnTo>
                    <a:pt x="946173" y="0"/>
                  </a:lnTo>
                  <a:lnTo>
                    <a:pt x="1877929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-215" y="0"/>
              <a:ext cx="1923864" cy="2467658"/>
            </a:xfrm>
            <a:custGeom>
              <a:avLst/>
              <a:gdLst/>
              <a:ahLst/>
              <a:cxnLst/>
              <a:rect l="l" t="t" r="r" b="b"/>
              <a:pathLst>
                <a:path w="1923864" h="2467658">
                  <a:moveTo>
                    <a:pt x="1890844" y="21590"/>
                  </a:moveTo>
                  <a:cubicBezTo>
                    <a:pt x="1892114" y="34290"/>
                    <a:pt x="1892114" y="44450"/>
                    <a:pt x="1893384" y="55862"/>
                  </a:cubicBezTo>
                  <a:cubicBezTo>
                    <a:pt x="1895924" y="106338"/>
                    <a:pt x="1897194" y="158684"/>
                    <a:pt x="1899734" y="209160"/>
                  </a:cubicBezTo>
                  <a:cubicBezTo>
                    <a:pt x="1899734" y="282070"/>
                    <a:pt x="1912434" y="1719706"/>
                    <a:pt x="1918784" y="1792616"/>
                  </a:cubicBezTo>
                  <a:cubicBezTo>
                    <a:pt x="1925134" y="1902916"/>
                    <a:pt x="1921324" y="2015085"/>
                    <a:pt x="1921324" y="2125385"/>
                  </a:cubicBezTo>
                  <a:cubicBezTo>
                    <a:pt x="1921324" y="2222598"/>
                    <a:pt x="1922594" y="2312333"/>
                    <a:pt x="1923864" y="2407404"/>
                  </a:cubicBezTo>
                  <a:lnTo>
                    <a:pt x="1923864" y="2467094"/>
                  </a:lnTo>
                  <a:cubicBezTo>
                    <a:pt x="1901004" y="2467094"/>
                    <a:pt x="1880684" y="2468364"/>
                    <a:pt x="1860364" y="2467094"/>
                  </a:cubicBezTo>
                  <a:cubicBezTo>
                    <a:pt x="1767139" y="2462014"/>
                    <a:pt x="1672094" y="2468364"/>
                    <a:pt x="1578489" y="2463284"/>
                  </a:cubicBezTo>
                  <a:cubicBezTo>
                    <a:pt x="1522326" y="2459474"/>
                    <a:pt x="1467603" y="2462014"/>
                    <a:pt x="1411441" y="2459474"/>
                  </a:cubicBezTo>
                  <a:lnTo>
                    <a:pt x="1333677" y="2455664"/>
                  </a:lnTo>
                  <a:cubicBezTo>
                    <a:pt x="1317836" y="2455664"/>
                    <a:pt x="1303435" y="2456934"/>
                    <a:pt x="1287594" y="2456934"/>
                  </a:cubicBezTo>
                  <a:cubicBezTo>
                    <a:pt x="1247272" y="2455664"/>
                    <a:pt x="1136387" y="2456934"/>
                    <a:pt x="1096065" y="2455664"/>
                  </a:cubicBezTo>
                  <a:cubicBezTo>
                    <a:pt x="1067263" y="2454394"/>
                    <a:pt x="491234" y="2463284"/>
                    <a:pt x="462432" y="2462014"/>
                  </a:cubicBezTo>
                  <a:cubicBezTo>
                    <a:pt x="455232" y="2462014"/>
                    <a:pt x="446592" y="2463284"/>
                    <a:pt x="439391" y="2463284"/>
                  </a:cubicBezTo>
                  <a:cubicBezTo>
                    <a:pt x="422110" y="2463284"/>
                    <a:pt x="406270" y="2464554"/>
                    <a:pt x="388989" y="2464554"/>
                  </a:cubicBezTo>
                  <a:cubicBezTo>
                    <a:pt x="345787" y="2464554"/>
                    <a:pt x="304024" y="2463284"/>
                    <a:pt x="260822" y="2462014"/>
                  </a:cubicBezTo>
                  <a:cubicBezTo>
                    <a:pt x="234901" y="2460744"/>
                    <a:pt x="208980" y="2459474"/>
                    <a:pt x="184498" y="2458204"/>
                  </a:cubicBezTo>
                  <a:cubicBezTo>
                    <a:pt x="138416" y="2456934"/>
                    <a:pt x="92334" y="2455664"/>
                    <a:pt x="44811" y="2455664"/>
                  </a:cubicBezTo>
                  <a:cubicBezTo>
                    <a:pt x="34505" y="2455664"/>
                    <a:pt x="25615" y="2455664"/>
                    <a:pt x="15455" y="2454394"/>
                  </a:cubicBezTo>
                  <a:cubicBezTo>
                    <a:pt x="6565" y="2453124"/>
                    <a:pt x="1485" y="2446774"/>
                    <a:pt x="4025" y="2437884"/>
                  </a:cubicBezTo>
                  <a:cubicBezTo>
                    <a:pt x="12915" y="2405808"/>
                    <a:pt x="9105" y="2359071"/>
                    <a:pt x="7835" y="2310464"/>
                  </a:cubicBezTo>
                  <a:cubicBezTo>
                    <a:pt x="6565" y="2211381"/>
                    <a:pt x="2755" y="2114168"/>
                    <a:pt x="4025" y="2015085"/>
                  </a:cubicBezTo>
                  <a:cubicBezTo>
                    <a:pt x="1485" y="1891699"/>
                    <a:pt x="-3595" y="364327"/>
                    <a:pt x="4025" y="239072"/>
                  </a:cubicBezTo>
                  <a:cubicBezTo>
                    <a:pt x="5295" y="214768"/>
                    <a:pt x="4025" y="188595"/>
                    <a:pt x="5295" y="164292"/>
                  </a:cubicBezTo>
                  <a:cubicBezTo>
                    <a:pt x="6565" y="125033"/>
                    <a:pt x="9105" y="820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332" y="30480"/>
                    <a:pt x="79373" y="29210"/>
                  </a:cubicBezTo>
                  <a:cubicBezTo>
                    <a:pt x="118255" y="25400"/>
                    <a:pt x="157137" y="22860"/>
                    <a:pt x="197459" y="20320"/>
                  </a:cubicBezTo>
                  <a:cubicBezTo>
                    <a:pt x="224820" y="17780"/>
                    <a:pt x="252182" y="16510"/>
                    <a:pt x="278103" y="13970"/>
                  </a:cubicBezTo>
                  <a:cubicBezTo>
                    <a:pt x="304024" y="11430"/>
                    <a:pt x="331386" y="8890"/>
                    <a:pt x="357307" y="8890"/>
                  </a:cubicBezTo>
                  <a:cubicBezTo>
                    <a:pt x="386109" y="7620"/>
                    <a:pt x="414910" y="10160"/>
                    <a:pt x="443712" y="8890"/>
                  </a:cubicBezTo>
                  <a:cubicBezTo>
                    <a:pt x="479713" y="8890"/>
                    <a:pt x="1132066" y="6350"/>
                    <a:pt x="1168068" y="5080"/>
                  </a:cubicBezTo>
                  <a:cubicBezTo>
                    <a:pt x="1202630" y="3810"/>
                    <a:pt x="1237192" y="2540"/>
                    <a:pt x="1273194" y="2540"/>
                  </a:cubicBezTo>
                  <a:cubicBezTo>
                    <a:pt x="1332237" y="1270"/>
                    <a:pt x="1389839" y="0"/>
                    <a:pt x="1448882" y="0"/>
                  </a:cubicBezTo>
                  <a:cubicBezTo>
                    <a:pt x="1473364" y="0"/>
                    <a:pt x="1499285" y="2540"/>
                    <a:pt x="1523766" y="2540"/>
                  </a:cubicBezTo>
                  <a:cubicBezTo>
                    <a:pt x="1591450" y="3810"/>
                    <a:pt x="1660573" y="5080"/>
                    <a:pt x="1728257" y="7620"/>
                  </a:cubicBezTo>
                  <a:cubicBezTo>
                    <a:pt x="1764258" y="8890"/>
                    <a:pt x="1800260" y="12700"/>
                    <a:pt x="1836262" y="16510"/>
                  </a:cubicBezTo>
                  <a:lnTo>
                    <a:pt x="1860364" y="16510"/>
                  </a:lnTo>
                  <a:cubicBezTo>
                    <a:pt x="1871794" y="17780"/>
                    <a:pt x="1880684" y="20320"/>
                    <a:pt x="1890844" y="21590"/>
                  </a:cubicBezTo>
                  <a:close/>
                  <a:moveTo>
                    <a:pt x="1901004" y="2450584"/>
                  </a:moveTo>
                  <a:cubicBezTo>
                    <a:pt x="1902274" y="2434074"/>
                    <a:pt x="1903544" y="2421374"/>
                    <a:pt x="1903544" y="2408674"/>
                  </a:cubicBezTo>
                  <a:cubicBezTo>
                    <a:pt x="1902274" y="2302986"/>
                    <a:pt x="1901004" y="2203903"/>
                    <a:pt x="1901004" y="2097343"/>
                  </a:cubicBezTo>
                  <a:cubicBezTo>
                    <a:pt x="1901004" y="2048736"/>
                    <a:pt x="1903544" y="2000129"/>
                    <a:pt x="1902274" y="1951523"/>
                  </a:cubicBezTo>
                  <a:cubicBezTo>
                    <a:pt x="1902274" y="1906655"/>
                    <a:pt x="1901004" y="1859918"/>
                    <a:pt x="1899734" y="1815050"/>
                  </a:cubicBezTo>
                  <a:cubicBezTo>
                    <a:pt x="1894654" y="1745879"/>
                    <a:pt x="1883224" y="313851"/>
                    <a:pt x="1883224" y="244680"/>
                  </a:cubicBezTo>
                  <a:cubicBezTo>
                    <a:pt x="1880684" y="186726"/>
                    <a:pt x="1878144" y="126902"/>
                    <a:pt x="1875604" y="68948"/>
                  </a:cubicBezTo>
                  <a:cubicBezTo>
                    <a:pt x="1874334" y="44450"/>
                    <a:pt x="1873064" y="43180"/>
                    <a:pt x="1856423" y="41910"/>
                  </a:cubicBezTo>
                  <a:cubicBezTo>
                    <a:pt x="1852103" y="41910"/>
                    <a:pt x="1849223" y="41910"/>
                    <a:pt x="1844902" y="40640"/>
                  </a:cubicBezTo>
                  <a:cubicBezTo>
                    <a:pt x="1808901" y="36830"/>
                    <a:pt x="1771459" y="31750"/>
                    <a:pt x="1735457" y="30480"/>
                  </a:cubicBezTo>
                  <a:cubicBezTo>
                    <a:pt x="1647613" y="26670"/>
                    <a:pt x="1558328" y="25400"/>
                    <a:pt x="1470483" y="22860"/>
                  </a:cubicBezTo>
                  <a:lnTo>
                    <a:pt x="1366798" y="22860"/>
                  </a:lnTo>
                  <a:cubicBezTo>
                    <a:pt x="1320716" y="22860"/>
                    <a:pt x="1274634" y="22860"/>
                    <a:pt x="1229991" y="24130"/>
                  </a:cubicBezTo>
                  <a:cubicBezTo>
                    <a:pt x="1191109" y="25400"/>
                    <a:pt x="535876" y="29210"/>
                    <a:pt x="496994" y="29210"/>
                  </a:cubicBezTo>
                  <a:cubicBezTo>
                    <a:pt x="433631" y="29210"/>
                    <a:pt x="370268" y="26670"/>
                    <a:pt x="306905" y="33020"/>
                  </a:cubicBezTo>
                  <a:cubicBezTo>
                    <a:pt x="273783" y="36830"/>
                    <a:pt x="242101" y="36830"/>
                    <a:pt x="210420" y="38100"/>
                  </a:cubicBezTo>
                  <a:cubicBezTo>
                    <a:pt x="155697" y="41910"/>
                    <a:pt x="100974" y="45720"/>
                    <a:pt x="46251" y="50800"/>
                  </a:cubicBezTo>
                  <a:cubicBezTo>
                    <a:pt x="33235" y="50800"/>
                    <a:pt x="30695" y="53992"/>
                    <a:pt x="29425" y="76426"/>
                  </a:cubicBezTo>
                  <a:cubicBezTo>
                    <a:pt x="28155" y="110077"/>
                    <a:pt x="28155" y="143728"/>
                    <a:pt x="26885" y="177379"/>
                  </a:cubicBezTo>
                  <a:cubicBezTo>
                    <a:pt x="25615" y="233463"/>
                    <a:pt x="23075" y="287678"/>
                    <a:pt x="21805" y="343763"/>
                  </a:cubicBezTo>
                  <a:cubicBezTo>
                    <a:pt x="16725" y="403587"/>
                    <a:pt x="23075" y="1865526"/>
                    <a:pt x="25615" y="1925350"/>
                  </a:cubicBezTo>
                  <a:cubicBezTo>
                    <a:pt x="25615" y="1988912"/>
                    <a:pt x="25615" y="2054344"/>
                    <a:pt x="26885" y="2117907"/>
                  </a:cubicBezTo>
                  <a:cubicBezTo>
                    <a:pt x="26885" y="2164644"/>
                    <a:pt x="29425" y="2211381"/>
                    <a:pt x="29425" y="2258118"/>
                  </a:cubicBezTo>
                  <a:cubicBezTo>
                    <a:pt x="29425" y="2308595"/>
                    <a:pt x="29425" y="2359071"/>
                    <a:pt x="28155" y="2408674"/>
                  </a:cubicBezTo>
                  <a:lnTo>
                    <a:pt x="28155" y="2418834"/>
                  </a:lnTo>
                  <a:cubicBezTo>
                    <a:pt x="28155" y="2428994"/>
                    <a:pt x="31965" y="2432804"/>
                    <a:pt x="40855" y="2432804"/>
                  </a:cubicBezTo>
                  <a:cubicBezTo>
                    <a:pt x="59212" y="2432804"/>
                    <a:pt x="79373" y="2434074"/>
                    <a:pt x="98094" y="2434074"/>
                  </a:cubicBezTo>
                  <a:cubicBezTo>
                    <a:pt x="125455" y="2434074"/>
                    <a:pt x="154257" y="2431534"/>
                    <a:pt x="181618" y="2434074"/>
                  </a:cubicBezTo>
                  <a:cubicBezTo>
                    <a:pt x="226261" y="2437884"/>
                    <a:pt x="270903" y="2440424"/>
                    <a:pt x="315545" y="2439154"/>
                  </a:cubicBezTo>
                  <a:cubicBezTo>
                    <a:pt x="344347" y="2437884"/>
                    <a:pt x="371708" y="2440424"/>
                    <a:pt x="400509" y="2440424"/>
                  </a:cubicBezTo>
                  <a:cubicBezTo>
                    <a:pt x="442271" y="2440424"/>
                    <a:pt x="484034" y="2439154"/>
                    <a:pt x="525796" y="2440424"/>
                  </a:cubicBezTo>
                  <a:cubicBezTo>
                    <a:pt x="587719" y="2441694"/>
                    <a:pt x="1267433" y="2431534"/>
                    <a:pt x="1330796" y="2434074"/>
                  </a:cubicBezTo>
                  <a:cubicBezTo>
                    <a:pt x="1358158" y="2435344"/>
                    <a:pt x="1385519" y="2436614"/>
                    <a:pt x="1411441" y="2436614"/>
                  </a:cubicBezTo>
                  <a:cubicBezTo>
                    <a:pt x="1458963" y="2439154"/>
                    <a:pt x="1505045" y="2435344"/>
                    <a:pt x="1552568" y="2439154"/>
                  </a:cubicBezTo>
                  <a:cubicBezTo>
                    <a:pt x="1591450" y="2441694"/>
                    <a:pt x="1630332" y="2441694"/>
                    <a:pt x="1669214" y="2444234"/>
                  </a:cubicBezTo>
                  <a:cubicBezTo>
                    <a:pt x="1726817" y="2448044"/>
                    <a:pt x="1784419" y="2450584"/>
                    <a:pt x="1842022" y="2451854"/>
                  </a:cubicBezTo>
                  <a:cubicBezTo>
                    <a:pt x="1862904" y="2451854"/>
                    <a:pt x="1880684" y="2450584"/>
                    <a:pt x="1901004" y="245058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73876" y="4852450"/>
            <a:ext cx="3810000" cy="4851323"/>
            <a:chOff x="0" y="0"/>
            <a:chExt cx="1960479" cy="2496304"/>
          </a:xfrm>
        </p:grpSpPr>
        <p:sp>
          <p:nvSpPr>
            <p:cNvPr id="25" name="Freeform 25"/>
            <p:cNvSpPr/>
            <p:nvPr/>
          </p:nvSpPr>
          <p:spPr>
            <a:xfrm>
              <a:off x="39992" y="45156"/>
              <a:ext cx="1920487" cy="2450443"/>
            </a:xfrm>
            <a:custGeom>
              <a:avLst/>
              <a:gdLst/>
              <a:ahLst/>
              <a:cxnLst/>
              <a:rect l="l" t="t" r="r" b="b"/>
              <a:pathLst>
                <a:path w="1920487" h="2450443">
                  <a:moveTo>
                    <a:pt x="648" y="2420668"/>
                  </a:moveTo>
                  <a:cubicBezTo>
                    <a:pt x="-1892" y="2429558"/>
                    <a:pt x="3188" y="2435908"/>
                    <a:pt x="13245" y="2437178"/>
                  </a:cubicBezTo>
                  <a:cubicBezTo>
                    <a:pt x="24765" y="2438448"/>
                    <a:pt x="34846" y="2438448"/>
                    <a:pt x="46366" y="2438448"/>
                  </a:cubicBezTo>
                  <a:cubicBezTo>
                    <a:pt x="92449" y="2439718"/>
                    <a:pt x="138531" y="2439718"/>
                    <a:pt x="186054" y="2440988"/>
                  </a:cubicBezTo>
                  <a:cubicBezTo>
                    <a:pt x="211975" y="2442258"/>
                    <a:pt x="237896" y="2443528"/>
                    <a:pt x="262377" y="2444798"/>
                  </a:cubicBezTo>
                  <a:cubicBezTo>
                    <a:pt x="305580" y="2446068"/>
                    <a:pt x="347342" y="2446068"/>
                    <a:pt x="390544" y="2447338"/>
                  </a:cubicBezTo>
                  <a:cubicBezTo>
                    <a:pt x="407825" y="2447338"/>
                    <a:pt x="423666" y="2447338"/>
                    <a:pt x="440946" y="2446068"/>
                  </a:cubicBezTo>
                  <a:cubicBezTo>
                    <a:pt x="448147" y="2446068"/>
                    <a:pt x="456787" y="2444798"/>
                    <a:pt x="463988" y="2444798"/>
                  </a:cubicBezTo>
                  <a:cubicBezTo>
                    <a:pt x="492789" y="2446068"/>
                    <a:pt x="1068818" y="2437178"/>
                    <a:pt x="1097620" y="2438448"/>
                  </a:cubicBezTo>
                  <a:cubicBezTo>
                    <a:pt x="1137942" y="2439718"/>
                    <a:pt x="1248827" y="2439718"/>
                    <a:pt x="1289149" y="2439718"/>
                  </a:cubicBezTo>
                  <a:cubicBezTo>
                    <a:pt x="1304990" y="2439718"/>
                    <a:pt x="1319391" y="2438448"/>
                    <a:pt x="1335232" y="2438448"/>
                  </a:cubicBezTo>
                  <a:lnTo>
                    <a:pt x="1412996" y="2442258"/>
                  </a:lnTo>
                  <a:cubicBezTo>
                    <a:pt x="1469159" y="2444798"/>
                    <a:pt x="1523881" y="2442258"/>
                    <a:pt x="1580044" y="2446068"/>
                  </a:cubicBezTo>
                  <a:cubicBezTo>
                    <a:pt x="1673649" y="2451148"/>
                    <a:pt x="1768694" y="2444798"/>
                    <a:pt x="1856987" y="2449878"/>
                  </a:cubicBezTo>
                  <a:cubicBezTo>
                    <a:pt x="1877307" y="2451148"/>
                    <a:pt x="1897627" y="2449878"/>
                    <a:pt x="1920487" y="2449878"/>
                  </a:cubicBezTo>
                  <a:lnTo>
                    <a:pt x="1920487" y="2390188"/>
                  </a:lnTo>
                  <a:cubicBezTo>
                    <a:pt x="1919217" y="2308306"/>
                    <a:pt x="1917947" y="2218571"/>
                    <a:pt x="1917947" y="2123227"/>
                  </a:cubicBezTo>
                  <a:cubicBezTo>
                    <a:pt x="1917947" y="2012927"/>
                    <a:pt x="1921757" y="1900758"/>
                    <a:pt x="1915407" y="1790458"/>
                  </a:cubicBezTo>
                  <a:cubicBezTo>
                    <a:pt x="1907787" y="1717548"/>
                    <a:pt x="1896357" y="279912"/>
                    <a:pt x="1896357" y="207002"/>
                  </a:cubicBezTo>
                  <a:cubicBezTo>
                    <a:pt x="1893817" y="156526"/>
                    <a:pt x="1892547" y="104180"/>
                    <a:pt x="1890007" y="53704"/>
                  </a:cubicBezTo>
                  <a:cubicBezTo>
                    <a:pt x="1890007" y="38748"/>
                    <a:pt x="1888737" y="23792"/>
                    <a:pt x="1887467" y="5644"/>
                  </a:cubicBezTo>
                  <a:cubicBezTo>
                    <a:pt x="1877307" y="3104"/>
                    <a:pt x="1868417" y="1834"/>
                    <a:pt x="1858257" y="564"/>
                  </a:cubicBezTo>
                  <a:cubicBezTo>
                    <a:pt x="1850637" y="-706"/>
                    <a:pt x="1843017" y="564"/>
                    <a:pt x="1836667" y="564"/>
                  </a:cubicBezTo>
                  <a:lnTo>
                    <a:pt x="6044" y="5644"/>
                  </a:lnTo>
                  <a:lnTo>
                    <a:pt x="648" y="2420668"/>
                  </a:lnTo>
                  <a:close/>
                </a:path>
              </a:pathLst>
            </a:custGeom>
            <a:solidFill>
              <a:srgbClr val="FFDA6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1430" y="16510"/>
              <a:ext cx="1899519" cy="2441694"/>
            </a:xfrm>
            <a:custGeom>
              <a:avLst/>
              <a:gdLst/>
              <a:ahLst/>
              <a:cxnLst/>
              <a:rect l="l" t="t" r="r" b="b"/>
              <a:pathLst>
                <a:path w="1899519" h="2441694">
                  <a:moveTo>
                    <a:pt x="1899519" y="2441694"/>
                  </a:moveTo>
                  <a:lnTo>
                    <a:pt x="0" y="2434074"/>
                  </a:lnTo>
                  <a:lnTo>
                    <a:pt x="0" y="863796"/>
                  </a:lnTo>
                  <a:lnTo>
                    <a:pt x="7620" y="20320"/>
                  </a:lnTo>
                  <a:lnTo>
                    <a:pt x="946173" y="0"/>
                  </a:lnTo>
                  <a:lnTo>
                    <a:pt x="1877929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-215" y="0"/>
              <a:ext cx="1923864" cy="2467658"/>
            </a:xfrm>
            <a:custGeom>
              <a:avLst/>
              <a:gdLst/>
              <a:ahLst/>
              <a:cxnLst/>
              <a:rect l="l" t="t" r="r" b="b"/>
              <a:pathLst>
                <a:path w="1923864" h="2467658">
                  <a:moveTo>
                    <a:pt x="1890844" y="21590"/>
                  </a:moveTo>
                  <a:cubicBezTo>
                    <a:pt x="1892114" y="34290"/>
                    <a:pt x="1892114" y="44450"/>
                    <a:pt x="1893384" y="55862"/>
                  </a:cubicBezTo>
                  <a:cubicBezTo>
                    <a:pt x="1895924" y="106338"/>
                    <a:pt x="1897194" y="158684"/>
                    <a:pt x="1899734" y="209160"/>
                  </a:cubicBezTo>
                  <a:cubicBezTo>
                    <a:pt x="1899734" y="282070"/>
                    <a:pt x="1912434" y="1719706"/>
                    <a:pt x="1918784" y="1792616"/>
                  </a:cubicBezTo>
                  <a:cubicBezTo>
                    <a:pt x="1925134" y="1902916"/>
                    <a:pt x="1921324" y="2015085"/>
                    <a:pt x="1921324" y="2125385"/>
                  </a:cubicBezTo>
                  <a:cubicBezTo>
                    <a:pt x="1921324" y="2222598"/>
                    <a:pt x="1922594" y="2312333"/>
                    <a:pt x="1923864" y="2407404"/>
                  </a:cubicBezTo>
                  <a:lnTo>
                    <a:pt x="1923864" y="2467094"/>
                  </a:lnTo>
                  <a:cubicBezTo>
                    <a:pt x="1901004" y="2467094"/>
                    <a:pt x="1880684" y="2468364"/>
                    <a:pt x="1860364" y="2467094"/>
                  </a:cubicBezTo>
                  <a:cubicBezTo>
                    <a:pt x="1767139" y="2462014"/>
                    <a:pt x="1672094" y="2468364"/>
                    <a:pt x="1578489" y="2463284"/>
                  </a:cubicBezTo>
                  <a:cubicBezTo>
                    <a:pt x="1522326" y="2459474"/>
                    <a:pt x="1467603" y="2462014"/>
                    <a:pt x="1411441" y="2459474"/>
                  </a:cubicBezTo>
                  <a:lnTo>
                    <a:pt x="1333677" y="2455664"/>
                  </a:lnTo>
                  <a:cubicBezTo>
                    <a:pt x="1317836" y="2455664"/>
                    <a:pt x="1303435" y="2456934"/>
                    <a:pt x="1287594" y="2456934"/>
                  </a:cubicBezTo>
                  <a:cubicBezTo>
                    <a:pt x="1247272" y="2455664"/>
                    <a:pt x="1136387" y="2456934"/>
                    <a:pt x="1096065" y="2455664"/>
                  </a:cubicBezTo>
                  <a:cubicBezTo>
                    <a:pt x="1067263" y="2454394"/>
                    <a:pt x="491234" y="2463284"/>
                    <a:pt x="462432" y="2462014"/>
                  </a:cubicBezTo>
                  <a:cubicBezTo>
                    <a:pt x="455232" y="2462014"/>
                    <a:pt x="446592" y="2463284"/>
                    <a:pt x="439391" y="2463284"/>
                  </a:cubicBezTo>
                  <a:cubicBezTo>
                    <a:pt x="422110" y="2463284"/>
                    <a:pt x="406270" y="2464554"/>
                    <a:pt x="388989" y="2464554"/>
                  </a:cubicBezTo>
                  <a:cubicBezTo>
                    <a:pt x="345787" y="2464554"/>
                    <a:pt x="304024" y="2463284"/>
                    <a:pt x="260822" y="2462014"/>
                  </a:cubicBezTo>
                  <a:cubicBezTo>
                    <a:pt x="234901" y="2460744"/>
                    <a:pt x="208980" y="2459474"/>
                    <a:pt x="184498" y="2458204"/>
                  </a:cubicBezTo>
                  <a:cubicBezTo>
                    <a:pt x="138416" y="2456934"/>
                    <a:pt x="92334" y="2455664"/>
                    <a:pt x="44811" y="2455664"/>
                  </a:cubicBezTo>
                  <a:cubicBezTo>
                    <a:pt x="34505" y="2455664"/>
                    <a:pt x="25615" y="2455664"/>
                    <a:pt x="15455" y="2454394"/>
                  </a:cubicBezTo>
                  <a:cubicBezTo>
                    <a:pt x="6565" y="2453124"/>
                    <a:pt x="1485" y="2446774"/>
                    <a:pt x="4025" y="2437884"/>
                  </a:cubicBezTo>
                  <a:cubicBezTo>
                    <a:pt x="12915" y="2405808"/>
                    <a:pt x="9105" y="2359071"/>
                    <a:pt x="7835" y="2310464"/>
                  </a:cubicBezTo>
                  <a:cubicBezTo>
                    <a:pt x="6565" y="2211381"/>
                    <a:pt x="2755" y="2114168"/>
                    <a:pt x="4025" y="2015085"/>
                  </a:cubicBezTo>
                  <a:cubicBezTo>
                    <a:pt x="1485" y="1891699"/>
                    <a:pt x="-3595" y="364327"/>
                    <a:pt x="4025" y="239072"/>
                  </a:cubicBezTo>
                  <a:cubicBezTo>
                    <a:pt x="5295" y="214768"/>
                    <a:pt x="4025" y="188595"/>
                    <a:pt x="5295" y="164292"/>
                  </a:cubicBezTo>
                  <a:cubicBezTo>
                    <a:pt x="6565" y="125033"/>
                    <a:pt x="9105" y="8203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332" y="30480"/>
                    <a:pt x="79373" y="29210"/>
                  </a:cubicBezTo>
                  <a:cubicBezTo>
                    <a:pt x="118255" y="25400"/>
                    <a:pt x="157137" y="22860"/>
                    <a:pt x="197459" y="20320"/>
                  </a:cubicBezTo>
                  <a:cubicBezTo>
                    <a:pt x="224820" y="17780"/>
                    <a:pt x="252182" y="16510"/>
                    <a:pt x="278103" y="13970"/>
                  </a:cubicBezTo>
                  <a:cubicBezTo>
                    <a:pt x="304024" y="11430"/>
                    <a:pt x="331386" y="8890"/>
                    <a:pt x="357307" y="8890"/>
                  </a:cubicBezTo>
                  <a:cubicBezTo>
                    <a:pt x="386109" y="7620"/>
                    <a:pt x="414910" y="10160"/>
                    <a:pt x="443712" y="8890"/>
                  </a:cubicBezTo>
                  <a:cubicBezTo>
                    <a:pt x="479713" y="8890"/>
                    <a:pt x="1132066" y="6350"/>
                    <a:pt x="1168068" y="5080"/>
                  </a:cubicBezTo>
                  <a:cubicBezTo>
                    <a:pt x="1202630" y="3810"/>
                    <a:pt x="1237192" y="2540"/>
                    <a:pt x="1273194" y="2540"/>
                  </a:cubicBezTo>
                  <a:cubicBezTo>
                    <a:pt x="1332237" y="1270"/>
                    <a:pt x="1389839" y="0"/>
                    <a:pt x="1448882" y="0"/>
                  </a:cubicBezTo>
                  <a:cubicBezTo>
                    <a:pt x="1473364" y="0"/>
                    <a:pt x="1499285" y="2540"/>
                    <a:pt x="1523766" y="2540"/>
                  </a:cubicBezTo>
                  <a:cubicBezTo>
                    <a:pt x="1591450" y="3810"/>
                    <a:pt x="1660573" y="5080"/>
                    <a:pt x="1728257" y="7620"/>
                  </a:cubicBezTo>
                  <a:cubicBezTo>
                    <a:pt x="1764258" y="8890"/>
                    <a:pt x="1800260" y="12700"/>
                    <a:pt x="1836262" y="16510"/>
                  </a:cubicBezTo>
                  <a:lnTo>
                    <a:pt x="1860364" y="16510"/>
                  </a:lnTo>
                  <a:cubicBezTo>
                    <a:pt x="1871794" y="17780"/>
                    <a:pt x="1880684" y="20320"/>
                    <a:pt x="1890844" y="21590"/>
                  </a:cubicBezTo>
                  <a:close/>
                  <a:moveTo>
                    <a:pt x="1901004" y="2450584"/>
                  </a:moveTo>
                  <a:cubicBezTo>
                    <a:pt x="1902274" y="2434074"/>
                    <a:pt x="1903544" y="2421374"/>
                    <a:pt x="1903544" y="2408674"/>
                  </a:cubicBezTo>
                  <a:cubicBezTo>
                    <a:pt x="1902274" y="2302986"/>
                    <a:pt x="1901004" y="2203903"/>
                    <a:pt x="1901004" y="2097343"/>
                  </a:cubicBezTo>
                  <a:cubicBezTo>
                    <a:pt x="1901004" y="2048736"/>
                    <a:pt x="1903544" y="2000129"/>
                    <a:pt x="1902274" y="1951523"/>
                  </a:cubicBezTo>
                  <a:cubicBezTo>
                    <a:pt x="1902274" y="1906655"/>
                    <a:pt x="1901004" y="1859918"/>
                    <a:pt x="1899734" y="1815050"/>
                  </a:cubicBezTo>
                  <a:cubicBezTo>
                    <a:pt x="1894654" y="1745879"/>
                    <a:pt x="1883224" y="313851"/>
                    <a:pt x="1883224" y="244680"/>
                  </a:cubicBezTo>
                  <a:cubicBezTo>
                    <a:pt x="1880684" y="186726"/>
                    <a:pt x="1878144" y="126902"/>
                    <a:pt x="1875604" y="68948"/>
                  </a:cubicBezTo>
                  <a:cubicBezTo>
                    <a:pt x="1874334" y="44450"/>
                    <a:pt x="1873064" y="43180"/>
                    <a:pt x="1856423" y="41910"/>
                  </a:cubicBezTo>
                  <a:cubicBezTo>
                    <a:pt x="1852103" y="41910"/>
                    <a:pt x="1849223" y="41910"/>
                    <a:pt x="1844902" y="40640"/>
                  </a:cubicBezTo>
                  <a:cubicBezTo>
                    <a:pt x="1808901" y="36830"/>
                    <a:pt x="1771459" y="31750"/>
                    <a:pt x="1735457" y="30480"/>
                  </a:cubicBezTo>
                  <a:cubicBezTo>
                    <a:pt x="1647613" y="26670"/>
                    <a:pt x="1558328" y="25400"/>
                    <a:pt x="1470483" y="22860"/>
                  </a:cubicBezTo>
                  <a:lnTo>
                    <a:pt x="1366798" y="22860"/>
                  </a:lnTo>
                  <a:cubicBezTo>
                    <a:pt x="1320716" y="22860"/>
                    <a:pt x="1274634" y="22860"/>
                    <a:pt x="1229991" y="24130"/>
                  </a:cubicBezTo>
                  <a:cubicBezTo>
                    <a:pt x="1191109" y="25400"/>
                    <a:pt x="535876" y="29210"/>
                    <a:pt x="496994" y="29210"/>
                  </a:cubicBezTo>
                  <a:cubicBezTo>
                    <a:pt x="433631" y="29210"/>
                    <a:pt x="370268" y="26670"/>
                    <a:pt x="306905" y="33020"/>
                  </a:cubicBezTo>
                  <a:cubicBezTo>
                    <a:pt x="273783" y="36830"/>
                    <a:pt x="242101" y="36830"/>
                    <a:pt x="210420" y="38100"/>
                  </a:cubicBezTo>
                  <a:cubicBezTo>
                    <a:pt x="155697" y="41910"/>
                    <a:pt x="100974" y="45720"/>
                    <a:pt x="46251" y="50800"/>
                  </a:cubicBezTo>
                  <a:cubicBezTo>
                    <a:pt x="33235" y="50800"/>
                    <a:pt x="30695" y="53992"/>
                    <a:pt x="29425" y="76426"/>
                  </a:cubicBezTo>
                  <a:cubicBezTo>
                    <a:pt x="28155" y="110077"/>
                    <a:pt x="28155" y="143728"/>
                    <a:pt x="26885" y="177379"/>
                  </a:cubicBezTo>
                  <a:cubicBezTo>
                    <a:pt x="25615" y="233463"/>
                    <a:pt x="23075" y="287678"/>
                    <a:pt x="21805" y="343763"/>
                  </a:cubicBezTo>
                  <a:cubicBezTo>
                    <a:pt x="16725" y="403587"/>
                    <a:pt x="23075" y="1865526"/>
                    <a:pt x="25615" y="1925350"/>
                  </a:cubicBezTo>
                  <a:cubicBezTo>
                    <a:pt x="25615" y="1988912"/>
                    <a:pt x="25615" y="2054344"/>
                    <a:pt x="26885" y="2117907"/>
                  </a:cubicBezTo>
                  <a:cubicBezTo>
                    <a:pt x="26885" y="2164644"/>
                    <a:pt x="29425" y="2211381"/>
                    <a:pt x="29425" y="2258118"/>
                  </a:cubicBezTo>
                  <a:cubicBezTo>
                    <a:pt x="29425" y="2308595"/>
                    <a:pt x="29425" y="2359071"/>
                    <a:pt x="28155" y="2408674"/>
                  </a:cubicBezTo>
                  <a:lnTo>
                    <a:pt x="28155" y="2418834"/>
                  </a:lnTo>
                  <a:cubicBezTo>
                    <a:pt x="28155" y="2428994"/>
                    <a:pt x="31965" y="2432804"/>
                    <a:pt x="40855" y="2432804"/>
                  </a:cubicBezTo>
                  <a:cubicBezTo>
                    <a:pt x="59212" y="2432804"/>
                    <a:pt x="79373" y="2434074"/>
                    <a:pt x="98094" y="2434074"/>
                  </a:cubicBezTo>
                  <a:cubicBezTo>
                    <a:pt x="125455" y="2434074"/>
                    <a:pt x="154257" y="2431534"/>
                    <a:pt x="181618" y="2434074"/>
                  </a:cubicBezTo>
                  <a:cubicBezTo>
                    <a:pt x="226261" y="2437884"/>
                    <a:pt x="270903" y="2440424"/>
                    <a:pt x="315545" y="2439154"/>
                  </a:cubicBezTo>
                  <a:cubicBezTo>
                    <a:pt x="344347" y="2437884"/>
                    <a:pt x="371708" y="2440424"/>
                    <a:pt x="400509" y="2440424"/>
                  </a:cubicBezTo>
                  <a:cubicBezTo>
                    <a:pt x="442271" y="2440424"/>
                    <a:pt x="484034" y="2439154"/>
                    <a:pt x="525796" y="2440424"/>
                  </a:cubicBezTo>
                  <a:cubicBezTo>
                    <a:pt x="587719" y="2441694"/>
                    <a:pt x="1267433" y="2431534"/>
                    <a:pt x="1330796" y="2434074"/>
                  </a:cubicBezTo>
                  <a:cubicBezTo>
                    <a:pt x="1358158" y="2435344"/>
                    <a:pt x="1385519" y="2436614"/>
                    <a:pt x="1411441" y="2436614"/>
                  </a:cubicBezTo>
                  <a:cubicBezTo>
                    <a:pt x="1458963" y="2439154"/>
                    <a:pt x="1505045" y="2435344"/>
                    <a:pt x="1552568" y="2439154"/>
                  </a:cubicBezTo>
                  <a:cubicBezTo>
                    <a:pt x="1591450" y="2441694"/>
                    <a:pt x="1630332" y="2441694"/>
                    <a:pt x="1669214" y="2444234"/>
                  </a:cubicBezTo>
                  <a:cubicBezTo>
                    <a:pt x="1726817" y="2448044"/>
                    <a:pt x="1784419" y="2450584"/>
                    <a:pt x="1842022" y="2451854"/>
                  </a:cubicBezTo>
                  <a:cubicBezTo>
                    <a:pt x="1862904" y="2451854"/>
                    <a:pt x="1880684" y="2450584"/>
                    <a:pt x="1901004" y="245058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id="28" name="Freeform 28"/>
          <p:cNvSpPr/>
          <p:nvPr/>
        </p:nvSpPr>
        <p:spPr>
          <a:xfrm>
            <a:off x="10370368" y="6147000"/>
            <a:ext cx="1790680" cy="81395"/>
          </a:xfrm>
          <a:custGeom>
            <a:avLst/>
            <a:gdLst/>
            <a:ahLst/>
            <a:cxnLst/>
            <a:rect l="l" t="t" r="r" b="b"/>
            <a:pathLst>
              <a:path w="1790680" h="81395">
                <a:moveTo>
                  <a:pt x="0" y="0"/>
                </a:moveTo>
                <a:lnTo>
                  <a:pt x="1790680" y="0"/>
                </a:lnTo>
                <a:lnTo>
                  <a:pt x="1790680" y="81395"/>
                </a:lnTo>
                <a:lnTo>
                  <a:pt x="0" y="81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0843004" y="4471678"/>
            <a:ext cx="845407" cy="84540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75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99328" tIns="99328" rIns="99328" bIns="99328" rtlCol="0" anchor="ctr"/>
            <a:lstStyle/>
            <a:p>
              <a:pPr algn="ctr">
                <a:lnSpc>
                  <a:spcPts val="1157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000968" y="4503391"/>
            <a:ext cx="529481" cy="78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8"/>
              </a:lnSpc>
            </a:pPr>
            <a:r>
              <a:rPr lang="en-US" sz="5233" spc="26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28959" y="6599080"/>
            <a:ext cx="2390218" cy="82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19"/>
              </a:lnSpc>
              <a:spcBef>
                <a:spcPct val="0"/>
              </a:spcBef>
            </a:pPr>
            <a:r>
              <a:rPr lang="en-US" sz="599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CHP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41708" y="8017509"/>
            <a:ext cx="3048000" cy="120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61"/>
              </a:lnSpc>
            </a:pPr>
            <a:r>
              <a:rPr lang="en-US" sz="3399" spc="84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Electricity + Heat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613784" y="6147000"/>
            <a:ext cx="1790680" cy="81395"/>
          </a:xfrm>
          <a:custGeom>
            <a:avLst/>
            <a:gdLst/>
            <a:ahLst/>
            <a:cxnLst/>
            <a:rect l="l" t="t" r="r" b="b"/>
            <a:pathLst>
              <a:path w="1790680" h="81395">
                <a:moveTo>
                  <a:pt x="0" y="0"/>
                </a:moveTo>
                <a:lnTo>
                  <a:pt x="1790680" y="0"/>
                </a:lnTo>
                <a:lnTo>
                  <a:pt x="1790680" y="81395"/>
                </a:lnTo>
                <a:lnTo>
                  <a:pt x="0" y="813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15086420" y="4453691"/>
            <a:ext cx="845407" cy="845407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CFD5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99328" tIns="99328" rIns="99328" bIns="99328" rtlCol="0" anchor="ctr"/>
            <a:lstStyle/>
            <a:p>
              <a:pPr algn="ctr">
                <a:lnSpc>
                  <a:spcPts val="1157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244384" y="4485404"/>
            <a:ext cx="529481" cy="78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8"/>
              </a:lnSpc>
            </a:pPr>
            <a:r>
              <a:rPr lang="en-US" sz="5233" spc="26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318749" y="6493380"/>
            <a:ext cx="2390218" cy="784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5"/>
              </a:lnSpc>
              <a:spcBef>
                <a:spcPct val="0"/>
              </a:spcBef>
            </a:pPr>
            <a:r>
              <a:rPr lang="en-US" sz="579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Digestate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989858" y="7861500"/>
            <a:ext cx="3048000" cy="125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499" spc="87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Fertilizer for Agriculture</a:t>
            </a:r>
          </a:p>
        </p:txBody>
      </p:sp>
      <p:sp>
        <p:nvSpPr>
          <p:cNvPr id="42" name="Freeform 42"/>
          <p:cNvSpPr/>
          <p:nvPr/>
        </p:nvSpPr>
        <p:spPr>
          <a:xfrm>
            <a:off x="6126952" y="6147000"/>
            <a:ext cx="1790680" cy="81395"/>
          </a:xfrm>
          <a:custGeom>
            <a:avLst/>
            <a:gdLst/>
            <a:ahLst/>
            <a:cxnLst/>
            <a:rect l="l" t="t" r="r" b="b"/>
            <a:pathLst>
              <a:path w="1790680" h="81395">
                <a:moveTo>
                  <a:pt x="0" y="0"/>
                </a:moveTo>
                <a:lnTo>
                  <a:pt x="1790680" y="0"/>
                </a:lnTo>
                <a:lnTo>
                  <a:pt x="1790680" y="81395"/>
                </a:lnTo>
                <a:lnTo>
                  <a:pt x="0" y="813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6599588" y="4471678"/>
            <a:ext cx="845407" cy="845407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BCEE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99328" tIns="99328" rIns="99328" bIns="99328" rtlCol="0" anchor="ctr"/>
            <a:lstStyle/>
            <a:p>
              <a:pPr algn="ctr">
                <a:lnSpc>
                  <a:spcPts val="1157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757552" y="4503391"/>
            <a:ext cx="529481" cy="78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8"/>
              </a:lnSpc>
            </a:pPr>
            <a:r>
              <a:rPr lang="en-US" sz="5233" spc="26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7183" y="6335583"/>
            <a:ext cx="2714375" cy="1384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5"/>
              </a:lnSpc>
              <a:spcBef>
                <a:spcPct val="0"/>
              </a:spcBef>
            </a:pPr>
            <a:r>
              <a:rPr lang="en-US" sz="579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Biomass Combustion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98292" y="7976562"/>
            <a:ext cx="3048000" cy="117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8"/>
              </a:lnSpc>
            </a:pPr>
            <a:r>
              <a:rPr lang="en-US" sz="3299" spc="82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Thermal Energy </a:t>
            </a:r>
          </a:p>
          <a:p>
            <a:pPr marL="0" lvl="0" indent="0" algn="ctr">
              <a:lnSpc>
                <a:spcPts val="4718"/>
              </a:lnSpc>
            </a:pPr>
            <a:r>
              <a:rPr lang="en-US" sz="3299" spc="82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from Dry waste</a:t>
            </a:r>
          </a:p>
        </p:txBody>
      </p:sp>
      <p:sp>
        <p:nvSpPr>
          <p:cNvPr id="49" name="Freeform 49"/>
          <p:cNvSpPr/>
          <p:nvPr/>
        </p:nvSpPr>
        <p:spPr>
          <a:xfrm>
            <a:off x="1883536" y="6147000"/>
            <a:ext cx="1790680" cy="81395"/>
          </a:xfrm>
          <a:custGeom>
            <a:avLst/>
            <a:gdLst/>
            <a:ahLst/>
            <a:cxnLst/>
            <a:rect l="l" t="t" r="r" b="b"/>
            <a:pathLst>
              <a:path w="1790680" h="81395">
                <a:moveTo>
                  <a:pt x="0" y="0"/>
                </a:moveTo>
                <a:lnTo>
                  <a:pt x="1790680" y="0"/>
                </a:lnTo>
                <a:lnTo>
                  <a:pt x="1790680" y="81395"/>
                </a:lnTo>
                <a:lnTo>
                  <a:pt x="0" y="813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2356172" y="4453691"/>
            <a:ext cx="845407" cy="84540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A68"/>
            </a:solidFill>
            <a:ln w="28575" cap="sq">
              <a:solidFill>
                <a:srgbClr val="2A2B39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99328" tIns="99328" rIns="99328" bIns="99328" rtlCol="0" anchor="ctr"/>
            <a:lstStyle/>
            <a:p>
              <a:pPr algn="ctr">
                <a:lnSpc>
                  <a:spcPts val="1157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514136" y="4485404"/>
            <a:ext cx="529481" cy="78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8"/>
              </a:lnSpc>
            </a:pPr>
            <a:r>
              <a:rPr lang="en-US" sz="5233" spc="26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83767" y="6323645"/>
            <a:ext cx="2390218" cy="140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7"/>
              </a:lnSpc>
              <a:spcBef>
                <a:spcPct val="0"/>
              </a:spcBef>
            </a:pPr>
            <a:r>
              <a:rPr lang="en-US" sz="5899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Anarobic Digestion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4876" y="7861500"/>
            <a:ext cx="3048000" cy="135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799" spc="94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Biogas</a:t>
            </a:r>
          </a:p>
          <a:p>
            <a:pPr marL="0" lvl="0" indent="0" algn="ctr">
              <a:lnSpc>
                <a:spcPts val="5433"/>
              </a:lnSpc>
            </a:pPr>
            <a:r>
              <a:rPr lang="en-US" sz="3799" spc="94">
                <a:solidFill>
                  <a:srgbClr val="242424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Production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85543" y="2051152"/>
            <a:ext cx="6633634" cy="81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2"/>
              </a:lnSpc>
            </a:pPr>
            <a:r>
              <a:rPr lang="en-US" sz="4868" b="1">
                <a:solidFill>
                  <a:srgbClr val="2A2B39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SYSTEM COMPONENT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-407565" y="-461601"/>
            <a:ext cx="3324883" cy="3324883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53297" y="1771959"/>
            <a:ext cx="1748282" cy="1748282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791" y="5302771"/>
            <a:ext cx="4948360" cy="4139953"/>
            <a:chOff x="0" y="0"/>
            <a:chExt cx="2418120" cy="2023074"/>
          </a:xfrm>
        </p:grpSpPr>
        <p:sp>
          <p:nvSpPr>
            <p:cNvPr id="4" name="Freeform 4"/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FED9F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800314" y="5302771"/>
            <a:ext cx="4948360" cy="4139953"/>
            <a:chOff x="0" y="0"/>
            <a:chExt cx="2418120" cy="2023074"/>
          </a:xfrm>
        </p:grpSpPr>
        <p:sp>
          <p:nvSpPr>
            <p:cNvPr id="8" name="Freeform 8"/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FFE49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98438" y="4938584"/>
            <a:ext cx="3837066" cy="761915"/>
            <a:chOff x="0" y="0"/>
            <a:chExt cx="1875062" cy="372326"/>
          </a:xfrm>
        </p:grpSpPr>
        <p:sp>
          <p:nvSpPr>
            <p:cNvPr id="12" name="Freeform 12"/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E0F0CB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E0F0C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355961" y="4938584"/>
            <a:ext cx="3837066" cy="761915"/>
            <a:chOff x="0" y="0"/>
            <a:chExt cx="1875062" cy="372326"/>
          </a:xfrm>
        </p:grpSpPr>
        <p:sp>
          <p:nvSpPr>
            <p:cNvPr id="16" name="Freeform 16"/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607754" y="2860094"/>
            <a:ext cx="9072492" cy="1739456"/>
            <a:chOff x="0" y="0"/>
            <a:chExt cx="12096656" cy="2319275"/>
          </a:xfrm>
        </p:grpSpPr>
        <p:sp>
          <p:nvSpPr>
            <p:cNvPr id="20" name="Freeform 20"/>
            <p:cNvSpPr/>
            <p:nvPr/>
          </p:nvSpPr>
          <p:spPr>
            <a:xfrm rot="-10800000">
              <a:off x="3668008" y="622214"/>
              <a:ext cx="4752945" cy="1557937"/>
            </a:xfrm>
            <a:custGeom>
              <a:avLst/>
              <a:gdLst/>
              <a:ahLst/>
              <a:cxnLst/>
              <a:rect l="l" t="t" r="r" b="b"/>
              <a:pathLst>
                <a:path w="4752945" h="1557937">
                  <a:moveTo>
                    <a:pt x="0" y="0"/>
                  </a:moveTo>
                  <a:lnTo>
                    <a:pt x="4752945" y="0"/>
                  </a:lnTo>
                  <a:lnTo>
                    <a:pt x="4752945" y="1557938"/>
                  </a:lnTo>
                  <a:lnTo>
                    <a:pt x="0" y="1557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0067" t="-1272" r="-10923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-10800000" flipH="1">
              <a:off x="10306441" y="693040"/>
              <a:ext cx="1790215" cy="1552147"/>
            </a:xfrm>
            <a:custGeom>
              <a:avLst/>
              <a:gdLst/>
              <a:ahLst/>
              <a:cxnLst/>
              <a:rect l="l" t="t" r="r" b="b"/>
              <a:pathLst>
                <a:path w="1790215" h="1552147">
                  <a:moveTo>
                    <a:pt x="1790215" y="0"/>
                  </a:moveTo>
                  <a:lnTo>
                    <a:pt x="0" y="0"/>
                  </a:lnTo>
                  <a:lnTo>
                    <a:pt x="0" y="1552147"/>
                  </a:lnTo>
                  <a:lnTo>
                    <a:pt x="1790215" y="1552147"/>
                  </a:lnTo>
                  <a:lnTo>
                    <a:pt x="1790215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21225" b="-1650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10800000">
              <a:off x="0" y="767128"/>
              <a:ext cx="1790215" cy="1552147"/>
            </a:xfrm>
            <a:custGeom>
              <a:avLst/>
              <a:gdLst/>
              <a:ahLst/>
              <a:cxnLst/>
              <a:rect l="l" t="t" r="r" b="b"/>
              <a:pathLst>
                <a:path w="1790215" h="1552147">
                  <a:moveTo>
                    <a:pt x="0" y="0"/>
                  </a:moveTo>
                  <a:lnTo>
                    <a:pt x="1790215" y="0"/>
                  </a:lnTo>
                  <a:lnTo>
                    <a:pt x="1790215" y="1552147"/>
                  </a:lnTo>
                  <a:lnTo>
                    <a:pt x="0" y="1552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21225" b="-1650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10800000" flipH="1" flipV="1">
              <a:off x="1741756" y="71371"/>
              <a:ext cx="1962744" cy="1577768"/>
            </a:xfrm>
            <a:custGeom>
              <a:avLst/>
              <a:gdLst/>
              <a:ahLst/>
              <a:cxnLst/>
              <a:rect l="l" t="t" r="r" b="b"/>
              <a:pathLst>
                <a:path w="1962744" h="1577768">
                  <a:moveTo>
                    <a:pt x="1962744" y="1577768"/>
                  </a:moveTo>
                  <a:lnTo>
                    <a:pt x="0" y="1577768"/>
                  </a:lnTo>
                  <a:lnTo>
                    <a:pt x="0" y="0"/>
                  </a:lnTo>
                  <a:lnTo>
                    <a:pt x="1962744" y="0"/>
                  </a:lnTo>
                  <a:lnTo>
                    <a:pt x="1962744" y="1577768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66536" r="-26453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10800000" flipV="1">
              <a:off x="8391932" y="0"/>
              <a:ext cx="1962744" cy="1577768"/>
            </a:xfrm>
            <a:custGeom>
              <a:avLst/>
              <a:gdLst/>
              <a:ahLst/>
              <a:cxnLst/>
              <a:rect l="l" t="t" r="r" b="b"/>
              <a:pathLst>
                <a:path w="1962744" h="1577768">
                  <a:moveTo>
                    <a:pt x="0" y="1577768"/>
                  </a:moveTo>
                  <a:lnTo>
                    <a:pt x="1962744" y="1577768"/>
                  </a:lnTo>
                  <a:lnTo>
                    <a:pt x="1962744" y="0"/>
                  </a:lnTo>
                  <a:lnTo>
                    <a:pt x="0" y="0"/>
                  </a:lnTo>
                  <a:lnTo>
                    <a:pt x="0" y="1577768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66536" r="-26453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5528787" y="1141613"/>
            <a:ext cx="7194111" cy="102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7"/>
              </a:lnSpc>
              <a:spcBef>
                <a:spcPct val="0"/>
              </a:spcBef>
            </a:pPr>
            <a:r>
              <a:rPr lang="en-US" sz="7679" spc="76">
                <a:solidFill>
                  <a:srgbClr val="E0F0CB"/>
                </a:solidFill>
                <a:latin typeface="Ballpoint"/>
                <a:ea typeface="Ballpoint"/>
                <a:cs typeface="Ballpoint"/>
                <a:sym typeface="Ballpoint"/>
              </a:rPr>
              <a:t>ENERGY OUTPUTS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457836" y="5302771"/>
            <a:ext cx="4948360" cy="4139953"/>
            <a:chOff x="0" y="0"/>
            <a:chExt cx="2418120" cy="2023074"/>
          </a:xfrm>
        </p:grpSpPr>
        <p:sp>
          <p:nvSpPr>
            <p:cNvPr id="27" name="Freeform 27"/>
            <p:cNvSpPr/>
            <p:nvPr/>
          </p:nvSpPr>
          <p:spPr>
            <a:xfrm>
              <a:off x="40004" y="45156"/>
              <a:ext cx="2378115" cy="1977213"/>
            </a:xfrm>
            <a:custGeom>
              <a:avLst/>
              <a:gdLst/>
              <a:ahLst/>
              <a:cxnLst/>
              <a:rect l="l" t="t" r="r" b="b"/>
              <a:pathLst>
                <a:path w="2378115" h="1977213">
                  <a:moveTo>
                    <a:pt x="636" y="1947438"/>
                  </a:moveTo>
                  <a:cubicBezTo>
                    <a:pt x="-1904" y="1956328"/>
                    <a:pt x="3176" y="1962678"/>
                    <a:pt x="15725" y="1963948"/>
                  </a:cubicBezTo>
                  <a:cubicBezTo>
                    <a:pt x="30152" y="1965218"/>
                    <a:pt x="42776" y="1965218"/>
                    <a:pt x="57203" y="1965218"/>
                  </a:cubicBezTo>
                  <a:cubicBezTo>
                    <a:pt x="114911" y="1966488"/>
                    <a:pt x="172620" y="1966488"/>
                    <a:pt x="232132" y="1967759"/>
                  </a:cubicBezTo>
                  <a:cubicBezTo>
                    <a:pt x="264592" y="1969028"/>
                    <a:pt x="297053" y="1970298"/>
                    <a:pt x="327711" y="1971568"/>
                  </a:cubicBezTo>
                  <a:cubicBezTo>
                    <a:pt x="381813" y="1972838"/>
                    <a:pt x="434111" y="1972838"/>
                    <a:pt x="488212" y="1974109"/>
                  </a:cubicBezTo>
                  <a:cubicBezTo>
                    <a:pt x="509853" y="1974109"/>
                    <a:pt x="529690" y="1974109"/>
                    <a:pt x="551331" y="1972838"/>
                  </a:cubicBezTo>
                  <a:cubicBezTo>
                    <a:pt x="560348" y="1972838"/>
                    <a:pt x="571168" y="1971568"/>
                    <a:pt x="580185" y="1971568"/>
                  </a:cubicBezTo>
                  <a:cubicBezTo>
                    <a:pt x="616253" y="1972838"/>
                    <a:pt x="1337607" y="1963948"/>
                    <a:pt x="1373675" y="1965218"/>
                  </a:cubicBezTo>
                  <a:cubicBezTo>
                    <a:pt x="1424169" y="1966488"/>
                    <a:pt x="1563030" y="1966488"/>
                    <a:pt x="1613525" y="1966488"/>
                  </a:cubicBezTo>
                  <a:cubicBezTo>
                    <a:pt x="1633362" y="1966488"/>
                    <a:pt x="1651396" y="1965218"/>
                    <a:pt x="1671233" y="1965218"/>
                  </a:cubicBezTo>
                  <a:lnTo>
                    <a:pt x="1768616" y="1969028"/>
                  </a:lnTo>
                  <a:cubicBezTo>
                    <a:pt x="1838948" y="1971568"/>
                    <a:pt x="1907477" y="1969028"/>
                    <a:pt x="1977809" y="1972838"/>
                  </a:cubicBezTo>
                  <a:cubicBezTo>
                    <a:pt x="2095029" y="1977918"/>
                    <a:pt x="2214052" y="1971568"/>
                    <a:pt x="2314616" y="1976648"/>
                  </a:cubicBezTo>
                  <a:cubicBezTo>
                    <a:pt x="2334936" y="1977918"/>
                    <a:pt x="2355256" y="1976648"/>
                    <a:pt x="2378116" y="1976648"/>
                  </a:cubicBezTo>
                  <a:lnTo>
                    <a:pt x="2378116" y="1916959"/>
                  </a:lnTo>
                  <a:cubicBezTo>
                    <a:pt x="2376846" y="1845800"/>
                    <a:pt x="2375576" y="1774098"/>
                    <a:pt x="2375576" y="1697914"/>
                  </a:cubicBezTo>
                  <a:cubicBezTo>
                    <a:pt x="2375576" y="1609780"/>
                    <a:pt x="2379386" y="1520152"/>
                    <a:pt x="2373036" y="1432018"/>
                  </a:cubicBezTo>
                  <a:cubicBezTo>
                    <a:pt x="2365416" y="1373760"/>
                    <a:pt x="2353986" y="225028"/>
                    <a:pt x="2353986" y="166770"/>
                  </a:cubicBezTo>
                  <a:cubicBezTo>
                    <a:pt x="2351446" y="126438"/>
                    <a:pt x="2350176" y="84611"/>
                    <a:pt x="2347636" y="44279"/>
                  </a:cubicBezTo>
                  <a:cubicBezTo>
                    <a:pt x="2347636" y="32328"/>
                    <a:pt x="2346366" y="20378"/>
                    <a:pt x="2345096" y="5644"/>
                  </a:cubicBezTo>
                  <a:cubicBezTo>
                    <a:pt x="2334936" y="3104"/>
                    <a:pt x="2326046" y="1834"/>
                    <a:pt x="2315886" y="564"/>
                  </a:cubicBezTo>
                  <a:cubicBezTo>
                    <a:pt x="2308266" y="-706"/>
                    <a:pt x="2300646" y="564"/>
                    <a:pt x="2294296" y="564"/>
                  </a:cubicBezTo>
                  <a:lnTo>
                    <a:pt x="6708" y="5644"/>
                  </a:lnTo>
                  <a:lnTo>
                    <a:pt x="636" y="1947438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1430" y="16510"/>
              <a:ext cx="2357160" cy="1968465"/>
            </a:xfrm>
            <a:custGeom>
              <a:avLst/>
              <a:gdLst/>
              <a:ahLst/>
              <a:cxnLst/>
              <a:rect l="l" t="t" r="r" b="b"/>
              <a:pathLst>
                <a:path w="2357160" h="1968465">
                  <a:moveTo>
                    <a:pt x="2357160" y="1968465"/>
                  </a:moveTo>
                  <a:lnTo>
                    <a:pt x="0" y="1960844"/>
                  </a:lnTo>
                  <a:lnTo>
                    <a:pt x="0" y="697333"/>
                  </a:lnTo>
                  <a:lnTo>
                    <a:pt x="7620" y="20320"/>
                  </a:lnTo>
                  <a:lnTo>
                    <a:pt x="1176825" y="0"/>
                  </a:lnTo>
                  <a:lnTo>
                    <a:pt x="2335570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-215" y="0"/>
              <a:ext cx="2381504" cy="1994429"/>
            </a:xfrm>
            <a:custGeom>
              <a:avLst/>
              <a:gdLst/>
              <a:ahLst/>
              <a:cxnLst/>
              <a:rect l="l" t="t" r="r" b="b"/>
              <a:pathLst>
                <a:path w="2381504" h="1994429">
                  <a:moveTo>
                    <a:pt x="2348485" y="21590"/>
                  </a:moveTo>
                  <a:cubicBezTo>
                    <a:pt x="2349755" y="34290"/>
                    <a:pt x="2349755" y="44450"/>
                    <a:pt x="2351025" y="55077"/>
                  </a:cubicBezTo>
                  <a:cubicBezTo>
                    <a:pt x="2353565" y="95410"/>
                    <a:pt x="2354835" y="137236"/>
                    <a:pt x="2357375" y="177569"/>
                  </a:cubicBezTo>
                  <a:cubicBezTo>
                    <a:pt x="2357375" y="235827"/>
                    <a:pt x="2370075" y="1384559"/>
                    <a:pt x="2376425" y="1442817"/>
                  </a:cubicBezTo>
                  <a:cubicBezTo>
                    <a:pt x="2382775" y="1530951"/>
                    <a:pt x="2378965" y="1620579"/>
                    <a:pt x="2378965" y="1708713"/>
                  </a:cubicBezTo>
                  <a:cubicBezTo>
                    <a:pt x="2378965" y="1786390"/>
                    <a:pt x="2380235" y="1858093"/>
                    <a:pt x="2381505" y="1934174"/>
                  </a:cubicBezTo>
                  <a:lnTo>
                    <a:pt x="2381505" y="1993865"/>
                  </a:lnTo>
                  <a:cubicBezTo>
                    <a:pt x="2358645" y="1993865"/>
                    <a:pt x="2338325" y="1995134"/>
                    <a:pt x="2318005" y="1993865"/>
                  </a:cubicBezTo>
                  <a:cubicBezTo>
                    <a:pt x="2201973" y="1988784"/>
                    <a:pt x="2082950" y="1995134"/>
                    <a:pt x="1965730" y="1990054"/>
                  </a:cubicBezTo>
                  <a:cubicBezTo>
                    <a:pt x="1895398" y="1986244"/>
                    <a:pt x="1826869" y="1988784"/>
                    <a:pt x="1756537" y="1986244"/>
                  </a:cubicBezTo>
                  <a:lnTo>
                    <a:pt x="1659154" y="1982434"/>
                  </a:lnTo>
                  <a:cubicBezTo>
                    <a:pt x="1639317" y="1982434"/>
                    <a:pt x="1621283" y="1983704"/>
                    <a:pt x="1601446" y="1983704"/>
                  </a:cubicBezTo>
                  <a:cubicBezTo>
                    <a:pt x="1550951" y="1982434"/>
                    <a:pt x="1412090" y="1983704"/>
                    <a:pt x="1361595" y="1982434"/>
                  </a:cubicBezTo>
                  <a:cubicBezTo>
                    <a:pt x="1325528" y="1981165"/>
                    <a:pt x="604174" y="1990054"/>
                    <a:pt x="568106" y="1988784"/>
                  </a:cubicBezTo>
                  <a:cubicBezTo>
                    <a:pt x="559089" y="1988784"/>
                    <a:pt x="548269" y="1990054"/>
                    <a:pt x="539252" y="1990054"/>
                  </a:cubicBezTo>
                  <a:cubicBezTo>
                    <a:pt x="517611" y="1990054"/>
                    <a:pt x="497774" y="1991324"/>
                    <a:pt x="476133" y="1991324"/>
                  </a:cubicBezTo>
                  <a:cubicBezTo>
                    <a:pt x="422032" y="1991324"/>
                    <a:pt x="369733" y="1990054"/>
                    <a:pt x="315632" y="1988784"/>
                  </a:cubicBezTo>
                  <a:cubicBezTo>
                    <a:pt x="283171" y="1987515"/>
                    <a:pt x="250710" y="1986244"/>
                    <a:pt x="220052" y="1984974"/>
                  </a:cubicBezTo>
                  <a:cubicBezTo>
                    <a:pt x="162344" y="1983704"/>
                    <a:pt x="104636" y="1982434"/>
                    <a:pt x="45124" y="1982434"/>
                  </a:cubicBezTo>
                  <a:cubicBezTo>
                    <a:pt x="34505" y="1982434"/>
                    <a:pt x="25615" y="1982434"/>
                    <a:pt x="15455" y="1981165"/>
                  </a:cubicBezTo>
                  <a:cubicBezTo>
                    <a:pt x="6565" y="1979894"/>
                    <a:pt x="1485" y="1973544"/>
                    <a:pt x="4025" y="1964654"/>
                  </a:cubicBezTo>
                  <a:cubicBezTo>
                    <a:pt x="12915" y="1932783"/>
                    <a:pt x="9105" y="1895438"/>
                    <a:pt x="7835" y="1856599"/>
                  </a:cubicBezTo>
                  <a:cubicBezTo>
                    <a:pt x="6565" y="1777428"/>
                    <a:pt x="2755" y="1699750"/>
                    <a:pt x="4025" y="1620579"/>
                  </a:cubicBezTo>
                  <a:cubicBezTo>
                    <a:pt x="1485" y="1521988"/>
                    <a:pt x="-3595" y="301554"/>
                    <a:pt x="4025" y="201470"/>
                  </a:cubicBezTo>
                  <a:cubicBezTo>
                    <a:pt x="5295" y="182050"/>
                    <a:pt x="4025" y="161137"/>
                    <a:pt x="5295" y="141718"/>
                  </a:cubicBezTo>
                  <a:cubicBezTo>
                    <a:pt x="6565" y="110348"/>
                    <a:pt x="9105" y="7599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551" y="30480"/>
                    <a:pt x="88405" y="29210"/>
                  </a:cubicBezTo>
                  <a:cubicBezTo>
                    <a:pt x="137097" y="25400"/>
                    <a:pt x="185788" y="22860"/>
                    <a:pt x="236283" y="20320"/>
                  </a:cubicBezTo>
                  <a:cubicBezTo>
                    <a:pt x="270547" y="17780"/>
                    <a:pt x="304811" y="16510"/>
                    <a:pt x="337272" y="13970"/>
                  </a:cubicBezTo>
                  <a:cubicBezTo>
                    <a:pt x="369733" y="11430"/>
                    <a:pt x="403998" y="8890"/>
                    <a:pt x="436459" y="8890"/>
                  </a:cubicBezTo>
                  <a:cubicBezTo>
                    <a:pt x="472526" y="7620"/>
                    <a:pt x="508594" y="10160"/>
                    <a:pt x="544662" y="8890"/>
                  </a:cubicBezTo>
                  <a:cubicBezTo>
                    <a:pt x="589746" y="8890"/>
                    <a:pt x="1406680" y="6350"/>
                    <a:pt x="1451765" y="5080"/>
                  </a:cubicBezTo>
                  <a:cubicBezTo>
                    <a:pt x="1495046" y="3810"/>
                    <a:pt x="1538327" y="2540"/>
                    <a:pt x="1583412" y="2540"/>
                  </a:cubicBezTo>
                  <a:cubicBezTo>
                    <a:pt x="1657351" y="1270"/>
                    <a:pt x="1729486" y="0"/>
                    <a:pt x="1803425" y="0"/>
                  </a:cubicBezTo>
                  <a:cubicBezTo>
                    <a:pt x="1834083" y="0"/>
                    <a:pt x="1866544" y="2540"/>
                    <a:pt x="1897201" y="2540"/>
                  </a:cubicBezTo>
                  <a:cubicBezTo>
                    <a:pt x="1981960" y="3810"/>
                    <a:pt x="2068523" y="5080"/>
                    <a:pt x="2153282" y="7620"/>
                  </a:cubicBezTo>
                  <a:cubicBezTo>
                    <a:pt x="2198366" y="8890"/>
                    <a:pt x="2243451" y="12700"/>
                    <a:pt x="2288536" y="16510"/>
                  </a:cubicBezTo>
                  <a:lnTo>
                    <a:pt x="2318005" y="16510"/>
                  </a:lnTo>
                  <a:cubicBezTo>
                    <a:pt x="2329435" y="17780"/>
                    <a:pt x="2338325" y="20320"/>
                    <a:pt x="2348485" y="21590"/>
                  </a:cubicBezTo>
                  <a:close/>
                  <a:moveTo>
                    <a:pt x="2358645" y="1977354"/>
                  </a:moveTo>
                  <a:cubicBezTo>
                    <a:pt x="2359915" y="1960844"/>
                    <a:pt x="2361185" y="1948144"/>
                    <a:pt x="2361185" y="1935444"/>
                  </a:cubicBezTo>
                  <a:cubicBezTo>
                    <a:pt x="2359915" y="1850624"/>
                    <a:pt x="2358645" y="1771453"/>
                    <a:pt x="2358645" y="1686306"/>
                  </a:cubicBezTo>
                  <a:cubicBezTo>
                    <a:pt x="2358645" y="1647467"/>
                    <a:pt x="2361185" y="1608628"/>
                    <a:pt x="2359915" y="1569790"/>
                  </a:cubicBezTo>
                  <a:cubicBezTo>
                    <a:pt x="2359915" y="1533938"/>
                    <a:pt x="2358645" y="1496593"/>
                    <a:pt x="2357375" y="1460742"/>
                  </a:cubicBezTo>
                  <a:cubicBezTo>
                    <a:pt x="2352295" y="1405472"/>
                    <a:pt x="2340865" y="261222"/>
                    <a:pt x="2340865" y="205951"/>
                  </a:cubicBezTo>
                  <a:cubicBezTo>
                    <a:pt x="2338325" y="159643"/>
                    <a:pt x="2335785" y="111842"/>
                    <a:pt x="2333245" y="65534"/>
                  </a:cubicBezTo>
                  <a:cubicBezTo>
                    <a:pt x="2331975" y="44450"/>
                    <a:pt x="2330705" y="43180"/>
                    <a:pt x="2313783" y="41910"/>
                  </a:cubicBezTo>
                  <a:cubicBezTo>
                    <a:pt x="2308373" y="41910"/>
                    <a:pt x="2304766" y="41910"/>
                    <a:pt x="2299356" y="40640"/>
                  </a:cubicBezTo>
                  <a:cubicBezTo>
                    <a:pt x="2254271" y="36830"/>
                    <a:pt x="2207383" y="31750"/>
                    <a:pt x="2162299" y="30480"/>
                  </a:cubicBezTo>
                  <a:cubicBezTo>
                    <a:pt x="2052292" y="26670"/>
                    <a:pt x="1940482" y="25400"/>
                    <a:pt x="1830476" y="22860"/>
                  </a:cubicBezTo>
                  <a:lnTo>
                    <a:pt x="1700632" y="22860"/>
                  </a:lnTo>
                  <a:cubicBezTo>
                    <a:pt x="1642924" y="22860"/>
                    <a:pt x="1585215" y="22860"/>
                    <a:pt x="1529310" y="24130"/>
                  </a:cubicBezTo>
                  <a:cubicBezTo>
                    <a:pt x="1480619" y="25400"/>
                    <a:pt x="660078" y="29210"/>
                    <a:pt x="611387" y="29210"/>
                  </a:cubicBezTo>
                  <a:cubicBezTo>
                    <a:pt x="532038" y="29210"/>
                    <a:pt x="452689" y="26670"/>
                    <a:pt x="373340" y="33020"/>
                  </a:cubicBezTo>
                  <a:cubicBezTo>
                    <a:pt x="331862" y="36830"/>
                    <a:pt x="292188" y="36830"/>
                    <a:pt x="252513" y="38100"/>
                  </a:cubicBezTo>
                  <a:cubicBezTo>
                    <a:pt x="183985" y="41910"/>
                    <a:pt x="115456" y="45720"/>
                    <a:pt x="46927" y="50800"/>
                  </a:cubicBezTo>
                  <a:cubicBezTo>
                    <a:pt x="33235" y="50800"/>
                    <a:pt x="30695" y="53584"/>
                    <a:pt x="29425" y="71509"/>
                  </a:cubicBezTo>
                  <a:cubicBezTo>
                    <a:pt x="28155" y="98398"/>
                    <a:pt x="28155" y="125286"/>
                    <a:pt x="26885" y="152174"/>
                  </a:cubicBezTo>
                  <a:cubicBezTo>
                    <a:pt x="25615" y="196988"/>
                    <a:pt x="23075" y="240308"/>
                    <a:pt x="21805" y="285122"/>
                  </a:cubicBezTo>
                  <a:cubicBezTo>
                    <a:pt x="16725" y="332924"/>
                    <a:pt x="23075" y="1501075"/>
                    <a:pt x="25615" y="1548876"/>
                  </a:cubicBezTo>
                  <a:cubicBezTo>
                    <a:pt x="25615" y="1599666"/>
                    <a:pt x="25615" y="1651949"/>
                    <a:pt x="26885" y="1702738"/>
                  </a:cubicBezTo>
                  <a:cubicBezTo>
                    <a:pt x="26885" y="1740083"/>
                    <a:pt x="29425" y="1777428"/>
                    <a:pt x="29425" y="1814773"/>
                  </a:cubicBezTo>
                  <a:cubicBezTo>
                    <a:pt x="29425" y="1855105"/>
                    <a:pt x="29425" y="1895438"/>
                    <a:pt x="28155" y="1935444"/>
                  </a:cubicBezTo>
                  <a:lnTo>
                    <a:pt x="28155" y="1945604"/>
                  </a:lnTo>
                  <a:cubicBezTo>
                    <a:pt x="28155" y="1955765"/>
                    <a:pt x="31965" y="1959575"/>
                    <a:pt x="40855" y="1959575"/>
                  </a:cubicBezTo>
                  <a:cubicBezTo>
                    <a:pt x="63158" y="1959575"/>
                    <a:pt x="88405" y="1960844"/>
                    <a:pt x="111849" y="1960844"/>
                  </a:cubicBezTo>
                  <a:cubicBezTo>
                    <a:pt x="146114" y="1960844"/>
                    <a:pt x="182181" y="1958304"/>
                    <a:pt x="216446" y="1960844"/>
                  </a:cubicBezTo>
                  <a:cubicBezTo>
                    <a:pt x="272351" y="1964654"/>
                    <a:pt x="328255" y="1967194"/>
                    <a:pt x="384160" y="1965925"/>
                  </a:cubicBezTo>
                  <a:cubicBezTo>
                    <a:pt x="420228" y="1964654"/>
                    <a:pt x="454493" y="1967194"/>
                    <a:pt x="490560" y="1967194"/>
                  </a:cubicBezTo>
                  <a:cubicBezTo>
                    <a:pt x="542858" y="1967194"/>
                    <a:pt x="595157" y="1965925"/>
                    <a:pt x="647455" y="1967194"/>
                  </a:cubicBezTo>
                  <a:cubicBezTo>
                    <a:pt x="725000" y="1968465"/>
                    <a:pt x="1576198" y="1958304"/>
                    <a:pt x="1655547" y="1960844"/>
                  </a:cubicBezTo>
                  <a:cubicBezTo>
                    <a:pt x="1689812" y="1962115"/>
                    <a:pt x="1724076" y="1963385"/>
                    <a:pt x="1756537" y="1963385"/>
                  </a:cubicBezTo>
                  <a:cubicBezTo>
                    <a:pt x="1816049" y="1965925"/>
                    <a:pt x="1873757" y="1962115"/>
                    <a:pt x="1933269" y="1965925"/>
                  </a:cubicBezTo>
                  <a:cubicBezTo>
                    <a:pt x="1981960" y="1968465"/>
                    <a:pt x="2030652" y="1968465"/>
                    <a:pt x="2079343" y="1971004"/>
                  </a:cubicBezTo>
                  <a:cubicBezTo>
                    <a:pt x="2151478" y="1974815"/>
                    <a:pt x="2223614" y="1977354"/>
                    <a:pt x="2295749" y="1978625"/>
                  </a:cubicBezTo>
                  <a:cubicBezTo>
                    <a:pt x="2320545" y="1978625"/>
                    <a:pt x="2338325" y="1977354"/>
                    <a:pt x="2358645" y="1977354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013484" y="4938584"/>
            <a:ext cx="3837066" cy="761915"/>
            <a:chOff x="0" y="0"/>
            <a:chExt cx="1875062" cy="372326"/>
          </a:xfrm>
        </p:grpSpPr>
        <p:sp>
          <p:nvSpPr>
            <p:cNvPr id="31" name="Freeform 31"/>
            <p:cNvSpPr/>
            <p:nvPr/>
          </p:nvSpPr>
          <p:spPr>
            <a:xfrm>
              <a:off x="39990" y="45156"/>
              <a:ext cx="1835072" cy="326465"/>
            </a:xfrm>
            <a:custGeom>
              <a:avLst/>
              <a:gdLst/>
              <a:ahLst/>
              <a:cxnLst/>
              <a:rect l="l" t="t" r="r" b="b"/>
              <a:pathLst>
                <a:path w="1835072" h="326465">
                  <a:moveTo>
                    <a:pt x="650" y="296690"/>
                  </a:moveTo>
                  <a:cubicBezTo>
                    <a:pt x="-1890" y="305580"/>
                    <a:pt x="3190" y="311930"/>
                    <a:pt x="12782" y="313200"/>
                  </a:cubicBezTo>
                  <a:cubicBezTo>
                    <a:pt x="23760" y="314470"/>
                    <a:pt x="33365" y="314470"/>
                    <a:pt x="44344" y="314470"/>
                  </a:cubicBezTo>
                  <a:cubicBezTo>
                    <a:pt x="88256" y="315740"/>
                    <a:pt x="132168" y="315740"/>
                    <a:pt x="177453" y="317010"/>
                  </a:cubicBezTo>
                  <a:cubicBezTo>
                    <a:pt x="202154" y="318280"/>
                    <a:pt x="226854" y="319550"/>
                    <a:pt x="250183" y="320820"/>
                  </a:cubicBezTo>
                  <a:cubicBezTo>
                    <a:pt x="291351" y="322090"/>
                    <a:pt x="331146" y="322090"/>
                    <a:pt x="372314" y="323360"/>
                  </a:cubicBezTo>
                  <a:cubicBezTo>
                    <a:pt x="388781" y="323360"/>
                    <a:pt x="403876" y="323360"/>
                    <a:pt x="420343" y="322090"/>
                  </a:cubicBezTo>
                  <a:cubicBezTo>
                    <a:pt x="427205" y="322090"/>
                    <a:pt x="435438" y="320820"/>
                    <a:pt x="442300" y="320820"/>
                  </a:cubicBezTo>
                  <a:cubicBezTo>
                    <a:pt x="469745" y="322090"/>
                    <a:pt x="1018650" y="313200"/>
                    <a:pt x="1046095" y="314470"/>
                  </a:cubicBezTo>
                  <a:cubicBezTo>
                    <a:pt x="1084518" y="315740"/>
                    <a:pt x="1190182" y="315740"/>
                    <a:pt x="1228606" y="315740"/>
                  </a:cubicBezTo>
                  <a:cubicBezTo>
                    <a:pt x="1243701" y="315740"/>
                    <a:pt x="1257423" y="314470"/>
                    <a:pt x="1272518" y="314470"/>
                  </a:cubicBezTo>
                  <a:lnTo>
                    <a:pt x="1346620" y="318280"/>
                  </a:lnTo>
                  <a:cubicBezTo>
                    <a:pt x="1400138" y="320820"/>
                    <a:pt x="1452284" y="318280"/>
                    <a:pt x="1505802" y="322090"/>
                  </a:cubicBezTo>
                  <a:cubicBezTo>
                    <a:pt x="1595000" y="327170"/>
                    <a:pt x="1685569" y="320820"/>
                    <a:pt x="1771572" y="325900"/>
                  </a:cubicBezTo>
                  <a:cubicBezTo>
                    <a:pt x="1791892" y="327170"/>
                    <a:pt x="1812212" y="325900"/>
                    <a:pt x="1835072" y="325900"/>
                  </a:cubicBezTo>
                  <a:lnTo>
                    <a:pt x="1835072" y="266210"/>
                  </a:lnTo>
                  <a:cubicBezTo>
                    <a:pt x="1833802" y="232458"/>
                    <a:pt x="1832532" y="223660"/>
                    <a:pt x="1832532" y="214312"/>
                  </a:cubicBezTo>
                  <a:cubicBezTo>
                    <a:pt x="1832532" y="203497"/>
                    <a:pt x="1836342" y="192499"/>
                    <a:pt x="1829992" y="181685"/>
                  </a:cubicBezTo>
                  <a:cubicBezTo>
                    <a:pt x="1822372" y="174536"/>
                    <a:pt x="1810942" y="33580"/>
                    <a:pt x="1810942" y="26431"/>
                  </a:cubicBezTo>
                  <a:cubicBezTo>
                    <a:pt x="1808402" y="21482"/>
                    <a:pt x="1807132" y="16350"/>
                    <a:pt x="1804592" y="11401"/>
                  </a:cubicBezTo>
                  <a:cubicBezTo>
                    <a:pt x="1804592" y="9934"/>
                    <a:pt x="1803322" y="8468"/>
                    <a:pt x="1802052" y="5644"/>
                  </a:cubicBezTo>
                  <a:cubicBezTo>
                    <a:pt x="1791892" y="3104"/>
                    <a:pt x="1783002" y="1834"/>
                    <a:pt x="1772842" y="564"/>
                  </a:cubicBezTo>
                  <a:cubicBezTo>
                    <a:pt x="1765222" y="-706"/>
                    <a:pt x="1757602" y="564"/>
                    <a:pt x="1751252" y="564"/>
                  </a:cubicBezTo>
                  <a:lnTo>
                    <a:pt x="5920" y="5644"/>
                  </a:lnTo>
                  <a:lnTo>
                    <a:pt x="650" y="296690"/>
                  </a:lnTo>
                  <a:close/>
                </a:path>
              </a:pathLst>
            </a:custGeom>
            <a:solidFill>
              <a:srgbClr val="FFE492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1430" y="16510"/>
              <a:ext cx="1814102" cy="317716"/>
            </a:xfrm>
            <a:custGeom>
              <a:avLst/>
              <a:gdLst/>
              <a:ahLst/>
              <a:cxnLst/>
              <a:rect l="l" t="t" r="r" b="b"/>
              <a:pathLst>
                <a:path w="1814102" h="317716">
                  <a:moveTo>
                    <a:pt x="1814102" y="317716"/>
                  </a:moveTo>
                  <a:lnTo>
                    <a:pt x="0" y="310096"/>
                  </a:lnTo>
                  <a:lnTo>
                    <a:pt x="0" y="116665"/>
                  </a:lnTo>
                  <a:lnTo>
                    <a:pt x="7620" y="20320"/>
                  </a:lnTo>
                  <a:lnTo>
                    <a:pt x="903122" y="0"/>
                  </a:lnTo>
                  <a:lnTo>
                    <a:pt x="1792512" y="8890"/>
                  </a:lnTo>
                  <a:close/>
                </a:path>
              </a:pathLst>
            </a:custGeom>
            <a:solidFill>
              <a:srgbClr val="FFE492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-215" y="0"/>
              <a:ext cx="1838447" cy="343680"/>
            </a:xfrm>
            <a:custGeom>
              <a:avLst/>
              <a:gdLst/>
              <a:ahLst/>
              <a:cxnLst/>
              <a:rect l="l" t="t" r="r" b="b"/>
              <a:pathLst>
                <a:path w="1838447" h="343680">
                  <a:moveTo>
                    <a:pt x="1805427" y="21590"/>
                  </a:moveTo>
                  <a:cubicBezTo>
                    <a:pt x="1806697" y="34290"/>
                    <a:pt x="1806697" y="44450"/>
                    <a:pt x="1807967" y="52341"/>
                  </a:cubicBezTo>
                  <a:cubicBezTo>
                    <a:pt x="1810507" y="57290"/>
                    <a:pt x="1811777" y="62422"/>
                    <a:pt x="1814317" y="67371"/>
                  </a:cubicBezTo>
                  <a:cubicBezTo>
                    <a:pt x="1814317" y="74520"/>
                    <a:pt x="1827017" y="215476"/>
                    <a:pt x="1833367" y="222625"/>
                  </a:cubicBezTo>
                  <a:cubicBezTo>
                    <a:pt x="1839717" y="233439"/>
                    <a:pt x="1835907" y="244437"/>
                    <a:pt x="1835907" y="255252"/>
                  </a:cubicBezTo>
                  <a:cubicBezTo>
                    <a:pt x="1835907" y="264783"/>
                    <a:pt x="1837177" y="273582"/>
                    <a:pt x="1838447" y="283426"/>
                  </a:cubicBezTo>
                  <a:lnTo>
                    <a:pt x="1838447" y="343116"/>
                  </a:lnTo>
                  <a:cubicBezTo>
                    <a:pt x="1815587" y="343116"/>
                    <a:pt x="1795267" y="344386"/>
                    <a:pt x="1774947" y="343116"/>
                  </a:cubicBezTo>
                  <a:cubicBezTo>
                    <a:pt x="1685978" y="338036"/>
                    <a:pt x="1595409" y="344386"/>
                    <a:pt x="1506212" y="339306"/>
                  </a:cubicBezTo>
                  <a:cubicBezTo>
                    <a:pt x="1452694" y="335496"/>
                    <a:pt x="1400548" y="338036"/>
                    <a:pt x="1347029" y="335496"/>
                  </a:cubicBezTo>
                  <a:lnTo>
                    <a:pt x="1272927" y="331686"/>
                  </a:lnTo>
                  <a:cubicBezTo>
                    <a:pt x="1257833" y="331686"/>
                    <a:pt x="1244110" y="332956"/>
                    <a:pt x="1229015" y="332956"/>
                  </a:cubicBezTo>
                  <a:cubicBezTo>
                    <a:pt x="1190592" y="331686"/>
                    <a:pt x="1084927" y="332956"/>
                    <a:pt x="1046504" y="331686"/>
                  </a:cubicBezTo>
                  <a:cubicBezTo>
                    <a:pt x="1019059" y="330416"/>
                    <a:pt x="470154" y="339306"/>
                    <a:pt x="442709" y="338036"/>
                  </a:cubicBezTo>
                  <a:cubicBezTo>
                    <a:pt x="435848" y="338036"/>
                    <a:pt x="427614" y="339306"/>
                    <a:pt x="420753" y="339306"/>
                  </a:cubicBezTo>
                  <a:cubicBezTo>
                    <a:pt x="404286" y="339306"/>
                    <a:pt x="389191" y="340576"/>
                    <a:pt x="372724" y="340576"/>
                  </a:cubicBezTo>
                  <a:cubicBezTo>
                    <a:pt x="331556" y="340576"/>
                    <a:pt x="291760" y="339306"/>
                    <a:pt x="250592" y="338036"/>
                  </a:cubicBezTo>
                  <a:cubicBezTo>
                    <a:pt x="225892" y="336766"/>
                    <a:pt x="201191" y="335496"/>
                    <a:pt x="177862" y="334226"/>
                  </a:cubicBezTo>
                  <a:cubicBezTo>
                    <a:pt x="133950" y="332956"/>
                    <a:pt x="90038" y="331686"/>
                    <a:pt x="44753" y="331686"/>
                  </a:cubicBezTo>
                  <a:cubicBezTo>
                    <a:pt x="34505" y="331686"/>
                    <a:pt x="25615" y="331686"/>
                    <a:pt x="15455" y="330416"/>
                  </a:cubicBezTo>
                  <a:cubicBezTo>
                    <a:pt x="6565" y="329146"/>
                    <a:pt x="1485" y="322796"/>
                    <a:pt x="4025" y="313906"/>
                  </a:cubicBezTo>
                  <a:cubicBezTo>
                    <a:pt x="12915" y="282747"/>
                    <a:pt x="9105" y="278164"/>
                    <a:pt x="7835" y="273398"/>
                  </a:cubicBezTo>
                  <a:cubicBezTo>
                    <a:pt x="6565" y="263684"/>
                    <a:pt x="2755" y="254152"/>
                    <a:pt x="4025" y="244437"/>
                  </a:cubicBezTo>
                  <a:cubicBezTo>
                    <a:pt x="1485" y="232340"/>
                    <a:pt x="-3595" y="82585"/>
                    <a:pt x="4025" y="70304"/>
                  </a:cubicBezTo>
                  <a:cubicBezTo>
                    <a:pt x="5295" y="67921"/>
                    <a:pt x="4025" y="65355"/>
                    <a:pt x="5295" y="62972"/>
                  </a:cubicBezTo>
                  <a:cubicBezTo>
                    <a:pt x="6565" y="59123"/>
                    <a:pt x="9105" y="5490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5731" y="30480"/>
                    <a:pt x="77687" y="29210"/>
                  </a:cubicBezTo>
                  <a:cubicBezTo>
                    <a:pt x="114738" y="25400"/>
                    <a:pt x="151789" y="22860"/>
                    <a:pt x="190213" y="20320"/>
                  </a:cubicBezTo>
                  <a:cubicBezTo>
                    <a:pt x="216286" y="17780"/>
                    <a:pt x="242359" y="16510"/>
                    <a:pt x="267059" y="13970"/>
                  </a:cubicBezTo>
                  <a:cubicBezTo>
                    <a:pt x="291760" y="11430"/>
                    <a:pt x="317833" y="8890"/>
                    <a:pt x="342534" y="8890"/>
                  </a:cubicBezTo>
                  <a:cubicBezTo>
                    <a:pt x="369979" y="7620"/>
                    <a:pt x="397424" y="10160"/>
                    <a:pt x="424870" y="8890"/>
                  </a:cubicBezTo>
                  <a:cubicBezTo>
                    <a:pt x="459176" y="8890"/>
                    <a:pt x="1080811" y="6350"/>
                    <a:pt x="1115117" y="5080"/>
                  </a:cubicBezTo>
                  <a:cubicBezTo>
                    <a:pt x="1148052" y="3810"/>
                    <a:pt x="1180986" y="2540"/>
                    <a:pt x="1215292" y="2540"/>
                  </a:cubicBezTo>
                  <a:cubicBezTo>
                    <a:pt x="1271555" y="1270"/>
                    <a:pt x="1326446" y="0"/>
                    <a:pt x="1382708" y="0"/>
                  </a:cubicBezTo>
                  <a:cubicBezTo>
                    <a:pt x="1406037" y="0"/>
                    <a:pt x="1430737" y="2540"/>
                    <a:pt x="1454066" y="2540"/>
                  </a:cubicBezTo>
                  <a:cubicBezTo>
                    <a:pt x="1518562" y="3810"/>
                    <a:pt x="1584431" y="5080"/>
                    <a:pt x="1648927" y="7620"/>
                  </a:cubicBezTo>
                  <a:cubicBezTo>
                    <a:pt x="1683234" y="8890"/>
                    <a:pt x="1717540" y="12700"/>
                    <a:pt x="1751847" y="16510"/>
                  </a:cubicBezTo>
                  <a:lnTo>
                    <a:pt x="1774947" y="16510"/>
                  </a:lnTo>
                  <a:cubicBezTo>
                    <a:pt x="1786377" y="17780"/>
                    <a:pt x="1795267" y="20320"/>
                    <a:pt x="1805427" y="21590"/>
                  </a:cubicBezTo>
                  <a:close/>
                  <a:moveTo>
                    <a:pt x="1815587" y="326606"/>
                  </a:moveTo>
                  <a:cubicBezTo>
                    <a:pt x="1816857" y="310096"/>
                    <a:pt x="1818127" y="297396"/>
                    <a:pt x="1818127" y="284696"/>
                  </a:cubicBezTo>
                  <a:cubicBezTo>
                    <a:pt x="1816857" y="272665"/>
                    <a:pt x="1815587" y="262950"/>
                    <a:pt x="1815587" y="252502"/>
                  </a:cubicBezTo>
                  <a:cubicBezTo>
                    <a:pt x="1815587" y="247737"/>
                    <a:pt x="1818127" y="242971"/>
                    <a:pt x="1816857" y="238205"/>
                  </a:cubicBezTo>
                  <a:cubicBezTo>
                    <a:pt x="1816857" y="233806"/>
                    <a:pt x="1815587" y="229224"/>
                    <a:pt x="1814317" y="224824"/>
                  </a:cubicBezTo>
                  <a:cubicBezTo>
                    <a:pt x="1809237" y="218042"/>
                    <a:pt x="1797807" y="77636"/>
                    <a:pt x="1797807" y="70854"/>
                  </a:cubicBezTo>
                  <a:cubicBezTo>
                    <a:pt x="1795267" y="65172"/>
                    <a:pt x="1792727" y="59306"/>
                    <a:pt x="1790187" y="53624"/>
                  </a:cubicBezTo>
                  <a:cubicBezTo>
                    <a:pt x="1788917" y="44450"/>
                    <a:pt x="1787647" y="43180"/>
                    <a:pt x="1771058" y="41910"/>
                  </a:cubicBezTo>
                  <a:cubicBezTo>
                    <a:pt x="1766942" y="41910"/>
                    <a:pt x="1764197" y="41910"/>
                    <a:pt x="1760080" y="40640"/>
                  </a:cubicBezTo>
                  <a:cubicBezTo>
                    <a:pt x="1725774" y="36830"/>
                    <a:pt x="1690095" y="31750"/>
                    <a:pt x="1655788" y="30480"/>
                  </a:cubicBezTo>
                  <a:cubicBezTo>
                    <a:pt x="1572080" y="26670"/>
                    <a:pt x="1487000" y="25400"/>
                    <a:pt x="1403292" y="22860"/>
                  </a:cubicBezTo>
                  <a:lnTo>
                    <a:pt x="1304489" y="22860"/>
                  </a:lnTo>
                  <a:cubicBezTo>
                    <a:pt x="1260577" y="22860"/>
                    <a:pt x="1216665" y="22860"/>
                    <a:pt x="1174125" y="24130"/>
                  </a:cubicBezTo>
                  <a:cubicBezTo>
                    <a:pt x="1137073" y="25400"/>
                    <a:pt x="512694" y="29210"/>
                    <a:pt x="475643" y="29210"/>
                  </a:cubicBezTo>
                  <a:cubicBezTo>
                    <a:pt x="415264" y="29210"/>
                    <a:pt x="354884" y="26670"/>
                    <a:pt x="294505" y="33020"/>
                  </a:cubicBezTo>
                  <a:cubicBezTo>
                    <a:pt x="262943" y="36830"/>
                    <a:pt x="232753" y="36830"/>
                    <a:pt x="202563" y="38100"/>
                  </a:cubicBezTo>
                  <a:cubicBezTo>
                    <a:pt x="150417" y="41910"/>
                    <a:pt x="98271" y="45720"/>
                    <a:pt x="46125" y="50800"/>
                  </a:cubicBezTo>
                  <a:cubicBezTo>
                    <a:pt x="33235" y="50800"/>
                    <a:pt x="30695" y="52157"/>
                    <a:pt x="29425" y="54357"/>
                  </a:cubicBezTo>
                  <a:cubicBezTo>
                    <a:pt x="28155" y="57656"/>
                    <a:pt x="28155" y="60956"/>
                    <a:pt x="26885" y="64255"/>
                  </a:cubicBezTo>
                  <a:cubicBezTo>
                    <a:pt x="25615" y="69754"/>
                    <a:pt x="23075" y="75070"/>
                    <a:pt x="21805" y="80569"/>
                  </a:cubicBezTo>
                  <a:cubicBezTo>
                    <a:pt x="16725" y="86434"/>
                    <a:pt x="23075" y="229773"/>
                    <a:pt x="25615" y="235639"/>
                  </a:cubicBezTo>
                  <a:cubicBezTo>
                    <a:pt x="25615" y="241871"/>
                    <a:pt x="25615" y="248287"/>
                    <a:pt x="26885" y="254519"/>
                  </a:cubicBezTo>
                  <a:cubicBezTo>
                    <a:pt x="26885" y="259101"/>
                    <a:pt x="29425" y="263684"/>
                    <a:pt x="29425" y="268266"/>
                  </a:cubicBezTo>
                  <a:cubicBezTo>
                    <a:pt x="29425" y="273215"/>
                    <a:pt x="29425" y="278164"/>
                    <a:pt x="28155" y="284696"/>
                  </a:cubicBezTo>
                  <a:lnTo>
                    <a:pt x="28155" y="294856"/>
                  </a:lnTo>
                  <a:cubicBezTo>
                    <a:pt x="28155" y="305016"/>
                    <a:pt x="31965" y="308826"/>
                    <a:pt x="40855" y="308826"/>
                  </a:cubicBezTo>
                  <a:cubicBezTo>
                    <a:pt x="58476" y="308826"/>
                    <a:pt x="77687" y="310096"/>
                    <a:pt x="95527" y="310096"/>
                  </a:cubicBezTo>
                  <a:cubicBezTo>
                    <a:pt x="121600" y="310096"/>
                    <a:pt x="149045" y="307556"/>
                    <a:pt x="175118" y="310096"/>
                  </a:cubicBezTo>
                  <a:cubicBezTo>
                    <a:pt x="217658" y="313906"/>
                    <a:pt x="260198" y="316446"/>
                    <a:pt x="302738" y="315176"/>
                  </a:cubicBezTo>
                  <a:cubicBezTo>
                    <a:pt x="330183" y="313906"/>
                    <a:pt x="356256" y="316446"/>
                    <a:pt x="383702" y="316446"/>
                  </a:cubicBezTo>
                  <a:cubicBezTo>
                    <a:pt x="423497" y="316446"/>
                    <a:pt x="463293" y="315176"/>
                    <a:pt x="503088" y="316446"/>
                  </a:cubicBezTo>
                  <a:cubicBezTo>
                    <a:pt x="562096" y="317716"/>
                    <a:pt x="1209803" y="307556"/>
                    <a:pt x="1270183" y="310096"/>
                  </a:cubicBezTo>
                  <a:cubicBezTo>
                    <a:pt x="1296256" y="311366"/>
                    <a:pt x="1322329" y="312636"/>
                    <a:pt x="1347029" y="312636"/>
                  </a:cubicBezTo>
                  <a:cubicBezTo>
                    <a:pt x="1392314" y="315176"/>
                    <a:pt x="1436227" y="311366"/>
                    <a:pt x="1481511" y="315176"/>
                  </a:cubicBezTo>
                  <a:cubicBezTo>
                    <a:pt x="1518562" y="317716"/>
                    <a:pt x="1555613" y="317716"/>
                    <a:pt x="1592664" y="320256"/>
                  </a:cubicBezTo>
                  <a:cubicBezTo>
                    <a:pt x="1647555" y="324066"/>
                    <a:pt x="1702445" y="326606"/>
                    <a:pt x="1757336" y="327876"/>
                  </a:cubicBezTo>
                  <a:cubicBezTo>
                    <a:pt x="1777487" y="327876"/>
                    <a:pt x="1795267" y="326606"/>
                    <a:pt x="1815587" y="326606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id="34" name="Freeform 34"/>
          <p:cNvSpPr/>
          <p:nvPr/>
        </p:nvSpPr>
        <p:spPr>
          <a:xfrm>
            <a:off x="6573197" y="1952095"/>
            <a:ext cx="5141607" cy="233709"/>
          </a:xfrm>
          <a:custGeom>
            <a:avLst/>
            <a:gdLst/>
            <a:ahLst/>
            <a:cxnLst/>
            <a:rect l="l" t="t" r="r" b="b"/>
            <a:pathLst>
              <a:path w="5141607" h="233709">
                <a:moveTo>
                  <a:pt x="0" y="0"/>
                </a:moveTo>
                <a:lnTo>
                  <a:pt x="5141606" y="0"/>
                </a:lnTo>
                <a:lnTo>
                  <a:pt x="5141606" y="233709"/>
                </a:lnTo>
                <a:lnTo>
                  <a:pt x="0" y="233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4096357">
            <a:off x="270972" y="-1080051"/>
            <a:ext cx="4573710" cy="4573710"/>
          </a:xfrm>
          <a:custGeom>
            <a:avLst/>
            <a:gdLst/>
            <a:ahLst/>
            <a:cxnLst/>
            <a:rect l="l" t="t" r="r" b="b"/>
            <a:pathLst>
              <a:path w="4573710" h="4573710">
                <a:moveTo>
                  <a:pt x="0" y="0"/>
                </a:moveTo>
                <a:lnTo>
                  <a:pt x="4573710" y="0"/>
                </a:lnTo>
                <a:lnTo>
                  <a:pt x="4573710" y="4573710"/>
                </a:lnTo>
                <a:lnTo>
                  <a:pt x="0" y="4573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35106" y="6062449"/>
            <a:ext cx="4054898" cy="309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193" lvl="1" indent="-28059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15,000 kWh/day of renewable electricity generated through CHP</a:t>
            </a:r>
          </a:p>
          <a:p>
            <a:pPr marL="561193" lvl="1" indent="-28059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Significantly reduces dependence on grid electricity</a:t>
            </a:r>
          </a:p>
          <a:p>
            <a:pPr marL="0" lvl="0" indent="0" algn="ctr">
              <a:lnSpc>
                <a:spcPts val="2799"/>
              </a:lnSpc>
            </a:pPr>
            <a:endParaRPr lang="en-US" sz="2599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92628" y="6062449"/>
            <a:ext cx="4054898" cy="309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193" lvl="1" indent="-28059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37,000 kWh/day of usable heat</a:t>
            </a:r>
          </a:p>
          <a:p>
            <a:pPr marL="561193" lvl="1" indent="-28059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Offsets a major portion of natural gas consumption in the plant</a:t>
            </a:r>
          </a:p>
          <a:p>
            <a:pPr marL="0" lvl="0" indent="0" algn="ctr">
              <a:lnSpc>
                <a:spcPts val="2799"/>
              </a:lnSpc>
            </a:pPr>
            <a:endParaRPr lang="en-US" sz="2599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995162" y="5076120"/>
            <a:ext cx="3243618" cy="48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3"/>
              </a:lnSpc>
              <a:spcBef>
                <a:spcPct val="0"/>
              </a:spcBef>
            </a:pPr>
            <a:r>
              <a:rPr lang="en-US" sz="360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Electricity Production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72083" y="5104051"/>
            <a:ext cx="4095989" cy="48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3"/>
              </a:lnSpc>
              <a:spcBef>
                <a:spcPct val="0"/>
              </a:spcBef>
            </a:pPr>
            <a:r>
              <a:rPr lang="en-US" sz="360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Thermal Energy Production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58933" y="2242954"/>
            <a:ext cx="5992837" cy="1089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4"/>
              </a:lnSpc>
              <a:spcBef>
                <a:spcPct val="0"/>
              </a:spcBef>
            </a:pPr>
            <a:r>
              <a:rPr lang="en-US" sz="2355" u="none" strike="noStrik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This combination offsets major portions of the plant’s heat and power demand while creating valuable by-products.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50151" y="6062449"/>
            <a:ext cx="4054898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55 tonnes/day of nutrient-rich digestate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Can be used as fertilizer, supporting agricultural circularity</a:t>
            </a:r>
          </a:p>
          <a:p>
            <a:pPr marL="0" lvl="0" indent="0" algn="ctr">
              <a:lnSpc>
                <a:spcPts val="3639"/>
              </a:lnSpc>
            </a:pPr>
            <a:endParaRPr lang="en-US" sz="2599">
              <a:solidFill>
                <a:srgbClr val="2A2B39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310208" y="5076120"/>
            <a:ext cx="3243618" cy="48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3"/>
              </a:lnSpc>
              <a:spcBef>
                <a:spcPct val="0"/>
              </a:spcBef>
            </a:pPr>
            <a:r>
              <a:rPr lang="en-US" sz="3601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Digestate Production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216529" y="3896239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256640" y="5313634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9"/>
                </a:lnTo>
                <a:lnTo>
                  <a:pt x="0" y="4429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98686" y="146111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031360" y="1292825"/>
            <a:ext cx="12225281" cy="221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2B3425"/>
                </a:solidFill>
                <a:latin typeface="Oswald Bold"/>
                <a:ea typeface="Oswald Bold"/>
                <a:cs typeface="Oswald Bold"/>
                <a:sym typeface="Oswald Bold"/>
              </a:rPr>
              <a:t>SUMMARY OF CONSTRAINTS</a:t>
            </a:r>
          </a:p>
        </p:txBody>
      </p:sp>
      <p:sp>
        <p:nvSpPr>
          <p:cNvPr id="28" name="Freeform 28"/>
          <p:cNvSpPr/>
          <p:nvPr/>
        </p:nvSpPr>
        <p:spPr>
          <a:xfrm>
            <a:off x="2568883" y="4557426"/>
            <a:ext cx="3269822" cy="4124776"/>
          </a:xfrm>
          <a:custGeom>
            <a:avLst/>
            <a:gdLst/>
            <a:ahLst/>
            <a:cxnLst/>
            <a:rect l="l" t="t" r="r" b="b"/>
            <a:pathLst>
              <a:path w="3269822" h="4124776">
                <a:moveTo>
                  <a:pt x="0" y="0"/>
                </a:moveTo>
                <a:lnTo>
                  <a:pt x="3269822" y="0"/>
                </a:lnTo>
                <a:lnTo>
                  <a:pt x="3269822" y="4124775"/>
                </a:lnTo>
                <a:lnTo>
                  <a:pt x="0" y="412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7509089" y="4557426"/>
            <a:ext cx="3269822" cy="4124776"/>
          </a:xfrm>
          <a:custGeom>
            <a:avLst/>
            <a:gdLst/>
            <a:ahLst/>
            <a:cxnLst/>
            <a:rect l="l" t="t" r="r" b="b"/>
            <a:pathLst>
              <a:path w="3269822" h="4124776">
                <a:moveTo>
                  <a:pt x="0" y="0"/>
                </a:moveTo>
                <a:lnTo>
                  <a:pt x="3269822" y="0"/>
                </a:lnTo>
                <a:lnTo>
                  <a:pt x="3269822" y="4124775"/>
                </a:lnTo>
                <a:lnTo>
                  <a:pt x="0" y="412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12445786" y="4557426"/>
            <a:ext cx="3269822" cy="4124776"/>
          </a:xfrm>
          <a:custGeom>
            <a:avLst/>
            <a:gdLst/>
            <a:ahLst/>
            <a:cxnLst/>
            <a:rect l="l" t="t" r="r" b="b"/>
            <a:pathLst>
              <a:path w="3269822" h="4124776">
                <a:moveTo>
                  <a:pt x="0" y="0"/>
                </a:moveTo>
                <a:lnTo>
                  <a:pt x="3269822" y="0"/>
                </a:lnTo>
                <a:lnTo>
                  <a:pt x="3269822" y="4124775"/>
                </a:lnTo>
                <a:lnTo>
                  <a:pt x="0" y="412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TextBox 31"/>
          <p:cNvSpPr txBox="1"/>
          <p:nvPr/>
        </p:nvSpPr>
        <p:spPr>
          <a:xfrm>
            <a:off x="2618307" y="5095875"/>
            <a:ext cx="3220542" cy="346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6"/>
              </a:lnSpc>
            </a:pPr>
            <a:r>
              <a:rPr lang="en-US" sz="2425" b="1">
                <a:solidFill>
                  <a:srgbClr val="317F54"/>
                </a:solidFill>
                <a:latin typeface="Garet Bold"/>
                <a:ea typeface="Garet Bold"/>
                <a:cs typeface="Garet Bold"/>
                <a:sym typeface="Garet Bold"/>
              </a:rPr>
              <a:t>Performance </a:t>
            </a:r>
          </a:p>
          <a:p>
            <a:pPr algn="ctr">
              <a:lnSpc>
                <a:spcPts val="3396"/>
              </a:lnSpc>
            </a:pPr>
            <a:r>
              <a:rPr lang="en-US" sz="2425" b="1">
                <a:solidFill>
                  <a:srgbClr val="317F54"/>
                </a:solidFill>
                <a:latin typeface="Garet Bold"/>
                <a:ea typeface="Garet Bold"/>
                <a:cs typeface="Garet Bold"/>
                <a:sym typeface="Garet Bold"/>
              </a:rPr>
              <a:t>Requirement</a:t>
            </a:r>
          </a:p>
          <a:p>
            <a:pPr algn="ctr">
              <a:lnSpc>
                <a:spcPts val="3396"/>
              </a:lnSpc>
            </a:pPr>
            <a:endParaRPr lang="en-US" sz="2425" b="1">
              <a:solidFill>
                <a:srgbClr val="317F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31631" lvl="1" indent="-215815" algn="just">
              <a:lnSpc>
                <a:spcPts val="2798"/>
              </a:lnSpc>
              <a:buFont typeface="Arial"/>
              <a:buChar char="•"/>
            </a:pPr>
            <a:r>
              <a:rPr lang="en-US" sz="1999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Offset 20–30% plant 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       electricity</a:t>
            </a:r>
          </a:p>
          <a:p>
            <a:pPr marL="431631" lvl="1" indent="-215815" algn="just">
              <a:lnSpc>
                <a:spcPts val="2798"/>
              </a:lnSpc>
              <a:buFont typeface="Arial"/>
              <a:buChar char="•"/>
            </a:pPr>
            <a:r>
              <a:rPr lang="en-US" sz="1999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Offset 40–60% 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        thermal demand</a:t>
            </a:r>
          </a:p>
          <a:p>
            <a:pPr marL="431631" lvl="1" indent="-215815" algn="just">
              <a:lnSpc>
                <a:spcPts val="2798"/>
              </a:lnSpc>
              <a:buFont typeface="Arial"/>
              <a:buChar char="•"/>
            </a:pPr>
            <a:r>
              <a:rPr lang="en-US" sz="1999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≥90% system uptime</a:t>
            </a:r>
          </a:p>
          <a:p>
            <a:pPr algn="ctr">
              <a:lnSpc>
                <a:spcPts val="3396"/>
              </a:lnSpc>
              <a:spcBef>
                <a:spcPct val="0"/>
              </a:spcBef>
            </a:pPr>
            <a:endParaRPr lang="en-US" sz="1999" b="1">
              <a:solidFill>
                <a:srgbClr val="2B3425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577533" y="5079310"/>
            <a:ext cx="3089474" cy="388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317F54"/>
                </a:solidFill>
                <a:latin typeface="Garet Bold"/>
                <a:ea typeface="Garet Bold"/>
                <a:cs typeface="Garet Bold"/>
                <a:sym typeface="Garet Bold"/>
              </a:rPr>
              <a:t>Environmental Requirements</a:t>
            </a:r>
          </a:p>
          <a:p>
            <a:pPr algn="ctr">
              <a:lnSpc>
                <a:spcPts val="3359"/>
              </a:lnSpc>
            </a:pPr>
            <a:endParaRPr lang="en-US" sz="2400" b="1">
              <a:solidFill>
                <a:srgbClr val="317F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≥40% GHG reduction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Must comply with Ontario MOECC, CFIA, and CSA codes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100" b="1">
              <a:solidFill>
                <a:srgbClr val="2B3425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599263" y="5096464"/>
            <a:ext cx="3089474" cy="323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317F54"/>
                </a:solidFill>
                <a:latin typeface="Garet Bold"/>
                <a:ea typeface="Garet Bold"/>
                <a:cs typeface="Garet Bold"/>
                <a:sym typeface="Garet Bold"/>
              </a:rPr>
              <a:t>Economic Requirements</a:t>
            </a:r>
          </a:p>
          <a:p>
            <a:pPr algn="ctr">
              <a:lnSpc>
                <a:spcPts val="3359"/>
              </a:lnSpc>
            </a:pPr>
            <a:endParaRPr lang="en-US" sz="2400" b="1">
              <a:solidFill>
                <a:srgbClr val="317F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CAPEX ≤ $15M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Payback &lt; 10 years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2B3425"/>
                </a:solidFill>
                <a:latin typeface="Garet Bold"/>
                <a:ea typeface="Garet Bold"/>
                <a:cs typeface="Garet Bold"/>
                <a:sym typeface="Garet Bold"/>
              </a:rPr>
              <a:t>IRR &gt; 8%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2B3425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130" y="5479288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3031360" y="2503572"/>
            <a:ext cx="12225281" cy="221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2B3425"/>
                </a:solidFill>
                <a:latin typeface="Oswald Bold"/>
                <a:ea typeface="Oswald Bold"/>
                <a:cs typeface="Oswald Bold"/>
                <a:sym typeface="Oswald Bold"/>
              </a:rPr>
              <a:t>DETAILED DESCRIPTION OF THE DESIGN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98686" y="158505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622009" y="6358702"/>
            <a:ext cx="3043982" cy="1444214"/>
          </a:xfrm>
          <a:custGeom>
            <a:avLst/>
            <a:gdLst/>
            <a:ahLst/>
            <a:cxnLst/>
            <a:rect l="l" t="t" r="r" b="b"/>
            <a:pathLst>
              <a:path w="3043982" h="1444214">
                <a:moveTo>
                  <a:pt x="0" y="0"/>
                </a:moveTo>
                <a:lnTo>
                  <a:pt x="3043982" y="0"/>
                </a:lnTo>
                <a:lnTo>
                  <a:pt x="3043982" y="1444214"/>
                </a:lnTo>
                <a:lnTo>
                  <a:pt x="0" y="1444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6870" b="-212602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208611" y="1748088"/>
            <a:ext cx="11033387" cy="6856137"/>
          </a:xfrm>
          <a:custGeom>
            <a:avLst/>
            <a:gdLst/>
            <a:ahLst/>
            <a:cxnLst/>
            <a:rect l="l" t="t" r="r" b="b"/>
            <a:pathLst>
              <a:path w="11033387" h="6856137">
                <a:moveTo>
                  <a:pt x="0" y="0"/>
                </a:moveTo>
                <a:lnTo>
                  <a:pt x="11033387" y="0"/>
                </a:lnTo>
                <a:lnTo>
                  <a:pt x="11033387" y="6856137"/>
                </a:lnTo>
                <a:lnTo>
                  <a:pt x="0" y="6856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19" t="-12261" r="-6837" b="-11308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7D01A-1AD9-68DD-AE1B-92556C9D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5F9030-27CB-682B-9AAC-255B2C94DD11}"/>
              </a:ext>
            </a:extLst>
          </p:cNvPr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0784AD-D616-B020-2A27-BB38F4733904}"/>
              </a:ext>
            </a:extLst>
          </p:cNvPr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37CCCF-DB80-46A9-64B6-80C2067676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1E3B1C-C8D4-2706-529D-7005FE7149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8478E1F-F881-0C7E-8DCC-E2BE8ED1AABC}"/>
              </a:ext>
            </a:extLst>
          </p:cNvPr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0300B3-3C47-EAD0-20BA-7B3C365CA1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C50CE9-F512-CCE3-6F2D-66F1C848483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2F5EF5F-76FC-F455-BD50-D41426A3037A}"/>
              </a:ext>
            </a:extLst>
          </p:cNvPr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29AE589-27FD-8DE1-AFAE-9D6E68728A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942A99A-368E-01DE-9060-75D44F4AE2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3CB63D7-E01B-E299-311E-652F1B1B5872}"/>
              </a:ext>
            </a:extLst>
          </p:cNvPr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6768863-5104-F61C-B9A4-75C8EE2831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686CB64-B028-5CB9-3DC4-1BFFCB9D992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696D4B6-342B-1179-8287-C8E53752F5E8}"/>
              </a:ext>
            </a:extLst>
          </p:cNvPr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9B52B9B-CD06-E4F6-2523-E4197964AB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F40A9AD-7363-1743-7284-27FA4D77BE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6A01E2E-9724-EE1F-99A4-87C8083DA497}"/>
              </a:ext>
            </a:extLst>
          </p:cNvPr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22B07D1-AFD2-4602-E738-8FCDD53899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1E3F744-F753-FCA6-D316-B0D0B0C3A2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66D1D36-9CD1-A3B1-350D-A56040C27E1C}"/>
              </a:ext>
            </a:extLst>
          </p:cNvPr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9515870-A2DC-D305-B598-FF1B1693CC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52415A7-4670-0636-F4D5-0EDBDE8421C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383EC7DC-AF67-FB9B-3C52-6C1643149E68}"/>
              </a:ext>
            </a:extLst>
          </p:cNvPr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BB8CC4-6F12-ADC6-2179-A360A9E2A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374" y="1465330"/>
            <a:ext cx="9765691" cy="70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32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531666" y="7058903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98686" y="158505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4176890" y="3003203"/>
            <a:ext cx="10494473" cy="435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1">
                <a:solidFill>
                  <a:srgbClr val="21050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Integration</a:t>
            </a:r>
          </a:p>
          <a:p>
            <a:pPr marL="777230" lvl="1" indent="-388615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317F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Wet waste → AD</a:t>
            </a:r>
          </a:p>
          <a:p>
            <a:pPr marL="777230" lvl="1" indent="-388615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317F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Dry waste → Biomass boiler</a:t>
            </a:r>
          </a:p>
          <a:p>
            <a:pPr marL="777230" lvl="1" indent="-388615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317F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Biogas → CHP</a:t>
            </a:r>
          </a:p>
          <a:p>
            <a:pPr marL="777230" lvl="1" indent="-388615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317F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Heat loops supply industrial processes</a:t>
            </a:r>
          </a:p>
          <a:p>
            <a:pPr marL="777230" lvl="1" indent="-388615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317F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Digestate → agricultural fertilizer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3599" b="1">
              <a:solidFill>
                <a:srgbClr val="317F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2359440" y="7058903"/>
            <a:ext cx="2077967" cy="2258660"/>
          </a:xfrm>
          <a:custGeom>
            <a:avLst/>
            <a:gdLst/>
            <a:ahLst/>
            <a:cxnLst/>
            <a:rect l="l" t="t" r="r" b="b"/>
            <a:pathLst>
              <a:path w="2077967" h="2258660">
                <a:moveTo>
                  <a:pt x="0" y="0"/>
                </a:moveTo>
                <a:lnTo>
                  <a:pt x="2077967" y="0"/>
                </a:lnTo>
                <a:lnTo>
                  <a:pt x="2077967" y="2258659"/>
                </a:lnTo>
                <a:lnTo>
                  <a:pt x="0" y="225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3912545" y="3101480"/>
            <a:ext cx="6612705" cy="757455"/>
          </a:xfrm>
          <a:custGeom>
            <a:avLst/>
            <a:gdLst/>
            <a:ahLst/>
            <a:cxnLst/>
            <a:rect l="l" t="t" r="r" b="b"/>
            <a:pathLst>
              <a:path w="6612705" h="757455">
                <a:moveTo>
                  <a:pt x="0" y="0"/>
                </a:moveTo>
                <a:lnTo>
                  <a:pt x="6612705" y="0"/>
                </a:lnTo>
                <a:lnTo>
                  <a:pt x="6612705" y="757456"/>
                </a:lnTo>
                <a:lnTo>
                  <a:pt x="0" y="7574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70963" y="1308038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130" y="1585054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98686" y="158505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4127350" y="2251160"/>
            <a:ext cx="11065511" cy="668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1"/>
              </a:lnSpc>
              <a:spcBef>
                <a:spcPct val="0"/>
              </a:spcBef>
            </a:pPr>
            <a:r>
              <a:rPr lang="en-US" sz="35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1.Anaerobic Digestion (AD)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1,800 m³ CSTR digester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Produces 7,425 m³/day biogas, approx. 58% methane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Digestate is separated into solid + liquid fertilizer streams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4951"/>
              </a:lnSpc>
              <a:spcBef>
                <a:spcPct val="0"/>
              </a:spcBef>
            </a:pPr>
            <a:r>
              <a:rPr lang="en-US" sz="35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Biomass Combustion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tonnes/day of dry fibrous waste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Produces upto 18,000 kWh/day usable thermal energy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4951"/>
              </a:lnSpc>
              <a:spcBef>
                <a:spcPct val="0"/>
              </a:spcBef>
            </a:pPr>
            <a:r>
              <a:rPr lang="en-US" sz="35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CHP System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Converts methane into 15,000 kWh/day electricity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Recovers 19,350 kWh/day heat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r>
              <a:rPr lang="en-US" sz="193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Powers plant loads + reduces purchased natural gas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2711"/>
              </a:lnSpc>
              <a:spcBef>
                <a:spcPct val="0"/>
              </a:spcBef>
            </a:pPr>
            <a:endParaRPr lang="en-US" sz="1936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037426" y="6334443"/>
            <a:ext cx="3344986" cy="924432"/>
          </a:xfrm>
          <a:custGeom>
            <a:avLst/>
            <a:gdLst/>
            <a:ahLst/>
            <a:cxnLst/>
            <a:rect l="l" t="t" r="r" b="b"/>
            <a:pathLst>
              <a:path w="3344986" h="924432">
                <a:moveTo>
                  <a:pt x="0" y="0"/>
                </a:moveTo>
                <a:lnTo>
                  <a:pt x="3344986" y="0"/>
                </a:lnTo>
                <a:lnTo>
                  <a:pt x="3344986" y="924433"/>
                </a:lnTo>
                <a:lnTo>
                  <a:pt x="0" y="92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775813" y="4592801"/>
            <a:ext cx="5794368" cy="830036"/>
          </a:xfrm>
          <a:custGeom>
            <a:avLst/>
            <a:gdLst/>
            <a:ahLst/>
            <a:cxnLst/>
            <a:rect l="l" t="t" r="r" b="b"/>
            <a:pathLst>
              <a:path w="5794368" h="830036">
                <a:moveTo>
                  <a:pt x="0" y="0"/>
                </a:moveTo>
                <a:lnTo>
                  <a:pt x="5794368" y="0"/>
                </a:lnTo>
                <a:lnTo>
                  <a:pt x="5794368" y="830037"/>
                </a:lnTo>
                <a:lnTo>
                  <a:pt x="0" y="830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95508" r="-5630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037426" y="2114491"/>
            <a:ext cx="5823001" cy="882231"/>
          </a:xfrm>
          <a:custGeom>
            <a:avLst/>
            <a:gdLst/>
            <a:ahLst/>
            <a:cxnLst/>
            <a:rect l="l" t="t" r="r" b="b"/>
            <a:pathLst>
              <a:path w="5823001" h="882231">
                <a:moveTo>
                  <a:pt x="0" y="0"/>
                </a:moveTo>
                <a:lnTo>
                  <a:pt x="5823001" y="0"/>
                </a:lnTo>
                <a:lnTo>
                  <a:pt x="5823001" y="882231"/>
                </a:lnTo>
                <a:lnTo>
                  <a:pt x="0" y="8822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35" b="-180913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130" y="5479288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3031360" y="2503572"/>
            <a:ext cx="12225281" cy="221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2B3425"/>
                </a:solidFill>
                <a:latin typeface="Oswald Bold"/>
                <a:ea typeface="Oswald Bold"/>
                <a:cs typeface="Oswald Bold"/>
                <a:sym typeface="Oswald Bold"/>
              </a:rPr>
              <a:t>EVALUATION OF THE DESIGN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98686" y="158505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622009" y="6358702"/>
            <a:ext cx="3043982" cy="1444214"/>
          </a:xfrm>
          <a:custGeom>
            <a:avLst/>
            <a:gdLst/>
            <a:ahLst/>
            <a:cxnLst/>
            <a:rect l="l" t="t" r="r" b="b"/>
            <a:pathLst>
              <a:path w="3043982" h="1444214">
                <a:moveTo>
                  <a:pt x="0" y="0"/>
                </a:moveTo>
                <a:lnTo>
                  <a:pt x="3043982" y="0"/>
                </a:lnTo>
                <a:lnTo>
                  <a:pt x="3043982" y="1444214"/>
                </a:lnTo>
                <a:lnTo>
                  <a:pt x="0" y="1444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6870" b="-212602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216529" y="3896239"/>
            <a:ext cx="9905741" cy="0"/>
          </a:xfrm>
          <a:prstGeom prst="line">
            <a:avLst/>
          </a:prstGeom>
          <a:ln w="47625" cap="flat">
            <a:solidFill>
              <a:srgbClr val="414B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5256640" y="5313634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9"/>
                </a:lnTo>
                <a:lnTo>
                  <a:pt x="0" y="4429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98686" y="1461114"/>
            <a:ext cx="3150973" cy="3007747"/>
          </a:xfrm>
          <a:custGeom>
            <a:avLst/>
            <a:gdLst/>
            <a:ahLst/>
            <a:cxnLst/>
            <a:rect l="l" t="t" r="r" b="b"/>
            <a:pathLst>
              <a:path w="3150973" h="3007747">
                <a:moveTo>
                  <a:pt x="0" y="0"/>
                </a:moveTo>
                <a:lnTo>
                  <a:pt x="3150973" y="0"/>
                </a:lnTo>
                <a:lnTo>
                  <a:pt x="3150973" y="3007747"/>
                </a:lnTo>
                <a:lnTo>
                  <a:pt x="0" y="3007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031360" y="1840512"/>
            <a:ext cx="12225281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2B3425"/>
                </a:solidFill>
                <a:latin typeface="Oswald Bold"/>
                <a:ea typeface="Oswald Bold"/>
                <a:cs typeface="Oswald Bold"/>
                <a:sym typeface="Oswald Bold"/>
              </a:rPr>
              <a:t>DETAILS</a:t>
            </a:r>
          </a:p>
        </p:txBody>
      </p:sp>
      <p:sp>
        <p:nvSpPr>
          <p:cNvPr id="28" name="Freeform 28"/>
          <p:cNvSpPr/>
          <p:nvPr/>
        </p:nvSpPr>
        <p:spPr>
          <a:xfrm>
            <a:off x="3449659" y="4636958"/>
            <a:ext cx="3269822" cy="4124776"/>
          </a:xfrm>
          <a:custGeom>
            <a:avLst/>
            <a:gdLst/>
            <a:ahLst/>
            <a:cxnLst/>
            <a:rect l="l" t="t" r="r" b="b"/>
            <a:pathLst>
              <a:path w="3269822" h="4124776">
                <a:moveTo>
                  <a:pt x="0" y="0"/>
                </a:moveTo>
                <a:lnTo>
                  <a:pt x="3269822" y="0"/>
                </a:lnTo>
                <a:lnTo>
                  <a:pt x="3269822" y="4124776"/>
                </a:lnTo>
                <a:lnTo>
                  <a:pt x="0" y="4124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0998613" y="4557426"/>
            <a:ext cx="3269822" cy="4124776"/>
          </a:xfrm>
          <a:custGeom>
            <a:avLst/>
            <a:gdLst/>
            <a:ahLst/>
            <a:cxnLst/>
            <a:rect l="l" t="t" r="r" b="b"/>
            <a:pathLst>
              <a:path w="3269822" h="4124776">
                <a:moveTo>
                  <a:pt x="0" y="0"/>
                </a:moveTo>
                <a:lnTo>
                  <a:pt x="3269822" y="0"/>
                </a:lnTo>
                <a:lnTo>
                  <a:pt x="3269822" y="4124775"/>
                </a:lnTo>
                <a:lnTo>
                  <a:pt x="0" y="412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TextBox 30"/>
          <p:cNvSpPr txBox="1"/>
          <p:nvPr/>
        </p:nvSpPr>
        <p:spPr>
          <a:xfrm>
            <a:off x="3512229" y="5240728"/>
            <a:ext cx="3144681" cy="333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948" b="1">
                <a:solidFill>
                  <a:srgbClr val="317F54"/>
                </a:solidFill>
                <a:latin typeface="Garet Bold"/>
                <a:ea typeface="Garet Bold"/>
                <a:cs typeface="Garet Bold"/>
                <a:sym typeface="Garet Bold"/>
              </a:rPr>
              <a:t>Technical Performance</a:t>
            </a:r>
          </a:p>
          <a:p>
            <a:pPr algn="l">
              <a:lnSpc>
                <a:spcPts val="2727"/>
              </a:lnSpc>
            </a:pPr>
            <a:endParaRPr lang="en-US" sz="1948" b="1">
              <a:solidFill>
                <a:srgbClr val="317F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20642" lvl="1" indent="-210321" algn="l">
              <a:lnSpc>
                <a:spcPts val="2727"/>
              </a:lnSpc>
              <a:buFont typeface="Arial"/>
              <a:buChar char="•"/>
            </a:pPr>
            <a:r>
              <a:rPr lang="en-US" sz="1948" b="1">
                <a:solidFill>
                  <a:srgbClr val="242424"/>
                </a:solidFill>
                <a:latin typeface="Garet Bold"/>
                <a:ea typeface="Garet Bold"/>
                <a:cs typeface="Garet Bold"/>
                <a:sym typeface="Garet Bold"/>
              </a:rPr>
              <a:t>Total usable energy: 52,000+ kWh/day</a:t>
            </a:r>
          </a:p>
          <a:p>
            <a:pPr marL="420642" lvl="1" indent="-210321" algn="l">
              <a:lnSpc>
                <a:spcPts val="2727"/>
              </a:lnSpc>
              <a:buFont typeface="Arial"/>
              <a:buChar char="•"/>
            </a:pPr>
            <a:r>
              <a:rPr lang="en-US" sz="1948" b="1">
                <a:solidFill>
                  <a:srgbClr val="242424"/>
                </a:solidFill>
                <a:latin typeface="Garet Bold"/>
                <a:ea typeface="Garet Bold"/>
                <a:cs typeface="Garet Bold"/>
                <a:sym typeface="Garet Bold"/>
              </a:rPr>
              <a:t>CHP + biomass meets major plant energy loads</a:t>
            </a:r>
          </a:p>
          <a:p>
            <a:pPr marL="420642" lvl="1" indent="-210321" algn="l">
              <a:lnSpc>
                <a:spcPts val="2727"/>
              </a:lnSpc>
              <a:buFont typeface="Arial"/>
              <a:buChar char="•"/>
            </a:pPr>
            <a:r>
              <a:rPr lang="en-US" sz="1948" b="1">
                <a:solidFill>
                  <a:srgbClr val="242424"/>
                </a:solidFill>
                <a:latin typeface="Garet Bold"/>
                <a:ea typeface="Garet Bold"/>
                <a:cs typeface="Garet Bold"/>
                <a:sym typeface="Garet Bold"/>
              </a:rPr>
              <a:t>Technology is fully commercial (TRL 9)</a:t>
            </a:r>
          </a:p>
          <a:p>
            <a:pPr algn="ctr">
              <a:lnSpc>
                <a:spcPts val="2054"/>
              </a:lnSpc>
              <a:spcBef>
                <a:spcPct val="0"/>
              </a:spcBef>
            </a:pPr>
            <a:endParaRPr lang="en-US" sz="1948" b="1">
              <a:solidFill>
                <a:srgbClr val="24242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80804" y="5134871"/>
            <a:ext cx="3105439" cy="3626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158" b="1">
                <a:solidFill>
                  <a:srgbClr val="414B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Environmental Impact</a:t>
            </a:r>
          </a:p>
          <a:p>
            <a:pPr algn="l">
              <a:lnSpc>
                <a:spcPts val="3022"/>
              </a:lnSpc>
            </a:pPr>
            <a:endParaRPr lang="en-US" sz="2158" b="1">
              <a:solidFill>
                <a:srgbClr val="414B3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444720" lvl="1" indent="-222360" algn="l">
              <a:lnSpc>
                <a:spcPts val="2883"/>
              </a:lnSpc>
              <a:buFont typeface="Arial"/>
              <a:buChar char="•"/>
            </a:pPr>
            <a:r>
              <a:rPr lang="en-US" sz="20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4,000 tonnes CO₂e/year reduction</a:t>
            </a:r>
          </a:p>
          <a:p>
            <a:pPr marL="444720" lvl="1" indent="-222360" algn="l">
              <a:lnSpc>
                <a:spcPts val="2883"/>
              </a:lnSpc>
              <a:buFont typeface="Arial"/>
              <a:buChar char="•"/>
            </a:pPr>
            <a:r>
              <a:rPr lang="en-US" sz="20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47% GHG reduction achieved</a:t>
            </a:r>
          </a:p>
          <a:p>
            <a:pPr marL="444720" lvl="1" indent="-222360" algn="l">
              <a:lnSpc>
                <a:spcPts val="2883"/>
              </a:lnSpc>
              <a:buFont typeface="Arial"/>
              <a:buChar char="•"/>
            </a:pPr>
            <a:r>
              <a:rPr lang="en-US" sz="20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Cuts methane emissions + reduces landfill use</a:t>
            </a:r>
          </a:p>
          <a:p>
            <a:pPr algn="ctr">
              <a:lnSpc>
                <a:spcPts val="3022"/>
              </a:lnSpc>
              <a:spcBef>
                <a:spcPct val="0"/>
              </a:spcBef>
            </a:pPr>
            <a:endParaRPr lang="en-US" sz="205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7500213" y="6504168"/>
            <a:ext cx="2717668" cy="390356"/>
          </a:xfrm>
          <a:custGeom>
            <a:avLst/>
            <a:gdLst/>
            <a:ahLst/>
            <a:cxnLst/>
            <a:rect l="l" t="t" r="r" b="b"/>
            <a:pathLst>
              <a:path w="2717668" h="390356">
                <a:moveTo>
                  <a:pt x="0" y="0"/>
                </a:moveTo>
                <a:lnTo>
                  <a:pt x="2717668" y="0"/>
                </a:lnTo>
                <a:lnTo>
                  <a:pt x="2717668" y="390356"/>
                </a:lnTo>
                <a:lnTo>
                  <a:pt x="0" y="3903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F8AAA-C0ED-BE8A-669B-40292C94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9AF7BF-D174-5E26-4EC3-145EC48D9CA8}"/>
              </a:ext>
            </a:extLst>
          </p:cNvPr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2DD1162-805F-9595-D297-ABE2D9CCFD95}"/>
              </a:ext>
            </a:extLst>
          </p:cNvPr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34B872B-5873-4A4B-FE20-35F760550F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7FE52A0-BDC5-4656-3087-4D67FA8BE7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ADEE600-1E11-2EC0-BE10-E7FBC36B0ACC}"/>
              </a:ext>
            </a:extLst>
          </p:cNvPr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0BB7E6-9635-EEAF-BC65-90C3AD4A84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99F5628-345F-B325-588B-07D5C9734B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9B88E1D-81E5-B455-5105-4CAA31C0057C}"/>
              </a:ext>
            </a:extLst>
          </p:cNvPr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CA77531-0BE5-6FBA-582A-FC667A7594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065C45C-F415-3AC8-BF7C-C676580ADF3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24B9F3D-3ED3-F6A5-AC0D-86BF6FED33BF}"/>
              </a:ext>
            </a:extLst>
          </p:cNvPr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58B7549-7A37-D06D-F9A9-E37FE7770D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C47ABAF-419A-8F61-E892-152C10FB3F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3208F4E-7B39-CC04-A272-B392A3A30BA5}"/>
              </a:ext>
            </a:extLst>
          </p:cNvPr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CF7AFB3-ABB6-95ED-46A7-0199345AF5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8C578A4-E67D-CCBF-4485-59833AD83D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15CC599-87E2-CC7E-11B4-6414A0B4B648}"/>
              </a:ext>
            </a:extLst>
          </p:cNvPr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6875BDA-E9E3-017D-6E14-0B399B532C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573BA28-C1DC-2C1C-9B80-BD27B015C9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81026BF-EEC1-05C6-186B-D2331D97E8FD}"/>
              </a:ext>
            </a:extLst>
          </p:cNvPr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458B34D-1CD2-9B84-8C11-04067353B6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396595A-A596-9A1C-C6DA-AA842E6625C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3AD06BE6-7508-3D96-698D-F5EBCB285D3A}"/>
              </a:ext>
            </a:extLst>
          </p:cNvPr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926C1B-33C8-12CA-23E9-67955CE0C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349" y="1409701"/>
            <a:ext cx="11025377" cy="70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55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B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F096C-0120-4891-C75C-C354416D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27574FA-C02E-350B-D6CB-96414749103E}"/>
              </a:ext>
            </a:extLst>
          </p:cNvPr>
          <p:cNvSpPr/>
          <p:nvPr/>
        </p:nvSpPr>
        <p:spPr>
          <a:xfrm>
            <a:off x="1310706" y="1028700"/>
            <a:ext cx="15666589" cy="8229600"/>
          </a:xfrm>
          <a:prstGeom prst="rect">
            <a:avLst/>
          </a:prstGeom>
          <a:solidFill>
            <a:srgbClr val="FFF9F3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3780845-084F-FCD5-9EDE-316235D93A59}"/>
              </a:ext>
            </a:extLst>
          </p:cNvPr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FEABE3-6C14-470C-C24D-C5C7D099D0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A016E6A-9D0D-BA5C-E608-49FC9BD1A40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DC9E60D-7C0A-1CBF-5ABF-AF21069B0609}"/>
              </a:ext>
            </a:extLst>
          </p:cNvPr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2DB8214-CDD6-B195-FF9E-862EF8D750C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448CB2A-1D70-1C25-27D6-E243862296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974CA83-A022-965A-8947-BE90DF993941}"/>
              </a:ext>
            </a:extLst>
          </p:cNvPr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DB06843-0420-3093-011E-B559D1D6EE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C666F52-BE1D-0B5F-D962-7BD73B8F94B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B640245-317B-378C-36EB-582D31069A3F}"/>
              </a:ext>
            </a:extLst>
          </p:cNvPr>
          <p:cNvGrpSpPr/>
          <p:nvPr/>
        </p:nvGrpSpPr>
        <p:grpSpPr>
          <a:xfrm>
            <a:off x="14122270" y="8384159"/>
            <a:ext cx="1748282" cy="1748282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1584F72-F4C9-174C-ED76-ABD167E0D1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146E9B2-040C-E078-14F4-FEDAB0B0FB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2B45E1A-F677-74BE-34A3-78D44FCC433F}"/>
              </a:ext>
            </a:extLst>
          </p:cNvPr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192B119-8EF2-CE92-CD03-0FDD7BB5C7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285001B-C022-B24F-75A3-C17578AF6BA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2CBBEB5-6167-9CAD-34DD-B6A312C12A7B}"/>
              </a:ext>
            </a:extLst>
          </p:cNvPr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761876A-1A80-4D90-2D09-15015183FFD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5CD4CFC-B52D-AF51-374F-D9B075576A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4187E67-598E-A4FD-9B8E-E4B51ED78CF0}"/>
              </a:ext>
            </a:extLst>
          </p:cNvPr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AFA9B6E-78AF-B3BB-6DA1-3E5D7EE89C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6E2A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374611F-6B8E-F6E4-F76C-4C5BEA32E6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22CB3CA3-AA49-77B2-0251-F102968EB542}"/>
              </a:ext>
            </a:extLst>
          </p:cNvPr>
          <p:cNvSpPr/>
          <p:nvPr/>
        </p:nvSpPr>
        <p:spPr>
          <a:xfrm>
            <a:off x="15256640" y="5479288"/>
            <a:ext cx="2685383" cy="4429498"/>
          </a:xfrm>
          <a:custGeom>
            <a:avLst/>
            <a:gdLst/>
            <a:ahLst/>
            <a:cxnLst/>
            <a:rect l="l" t="t" r="r" b="b"/>
            <a:pathLst>
              <a:path w="2685383" h="4429498">
                <a:moveTo>
                  <a:pt x="0" y="0"/>
                </a:moveTo>
                <a:lnTo>
                  <a:pt x="2685384" y="0"/>
                </a:lnTo>
                <a:lnTo>
                  <a:pt x="2685384" y="4429498"/>
                </a:lnTo>
                <a:lnTo>
                  <a:pt x="0" y="442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6252A29-9519-D1D7-23E5-40AD3544C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782" y="1562100"/>
            <a:ext cx="10813069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0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39417" y="1028700"/>
            <a:ext cx="21801643" cy="8229600"/>
          </a:xfrm>
          <a:prstGeom prst="rect">
            <a:avLst/>
          </a:prstGeom>
          <a:solidFill>
            <a:srgbClr val="414B3B"/>
          </a:solidFill>
        </p:spPr>
      </p:sp>
      <p:grpSp>
        <p:nvGrpSpPr>
          <p:cNvPr id="3" name="Group 3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6821" y="430119"/>
            <a:ext cx="1748282" cy="17482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19582" y="8543721"/>
            <a:ext cx="1748282" cy="17482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4191130" y="4071296"/>
            <a:ext cx="990574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4208534" y="4499920"/>
            <a:ext cx="13862318" cy="4553785"/>
            <a:chOff x="0" y="0"/>
            <a:chExt cx="3650981" cy="1199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50981" cy="1199351"/>
            </a:xfrm>
            <a:custGeom>
              <a:avLst/>
              <a:gdLst/>
              <a:ahLst/>
              <a:cxnLst/>
              <a:rect l="l" t="t" r="r" b="b"/>
              <a:pathLst>
                <a:path w="3650981" h="1199351">
                  <a:moveTo>
                    <a:pt x="0" y="0"/>
                  </a:moveTo>
                  <a:lnTo>
                    <a:pt x="3650981" y="0"/>
                  </a:lnTo>
                  <a:lnTo>
                    <a:pt x="3650981" y="1199351"/>
                  </a:lnTo>
                  <a:lnTo>
                    <a:pt x="0" y="1199351"/>
                  </a:lnTo>
                  <a:close/>
                </a:path>
              </a:pathLst>
            </a:custGeom>
            <a:solidFill>
              <a:srgbClr val="8CA87C"/>
            </a:solidFill>
            <a:ln w="66675" cap="sq">
              <a:solidFill>
                <a:srgbClr val="8CA87C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650981" cy="123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08534" y="2178401"/>
            <a:ext cx="9905741" cy="1651498"/>
            <a:chOff x="0" y="0"/>
            <a:chExt cx="2608919" cy="4349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08919" cy="434962"/>
            </a:xfrm>
            <a:custGeom>
              <a:avLst/>
              <a:gdLst/>
              <a:ahLst/>
              <a:cxnLst/>
              <a:rect l="l" t="t" r="r" b="b"/>
              <a:pathLst>
                <a:path w="2608919" h="434962">
                  <a:moveTo>
                    <a:pt x="0" y="0"/>
                  </a:moveTo>
                  <a:lnTo>
                    <a:pt x="2608919" y="0"/>
                  </a:lnTo>
                  <a:lnTo>
                    <a:pt x="2608919" y="434962"/>
                  </a:lnTo>
                  <a:lnTo>
                    <a:pt x="0" y="434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608919" cy="473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-441674" y="7483139"/>
            <a:ext cx="6610609" cy="3293285"/>
          </a:xfrm>
          <a:custGeom>
            <a:avLst/>
            <a:gdLst/>
            <a:ahLst/>
            <a:cxnLst/>
            <a:rect l="l" t="t" r="r" b="b"/>
            <a:pathLst>
              <a:path w="6610609" h="3293285">
                <a:moveTo>
                  <a:pt x="0" y="0"/>
                </a:moveTo>
                <a:lnTo>
                  <a:pt x="6610609" y="0"/>
                </a:lnTo>
                <a:lnTo>
                  <a:pt x="6610609" y="3293285"/>
                </a:lnTo>
                <a:lnTo>
                  <a:pt x="0" y="3293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863630" y="853287"/>
            <a:ext cx="3841583" cy="2650228"/>
          </a:xfrm>
          <a:custGeom>
            <a:avLst/>
            <a:gdLst/>
            <a:ahLst/>
            <a:cxnLst/>
            <a:rect l="l" t="t" r="r" b="b"/>
            <a:pathLst>
              <a:path w="3841583" h="2650228">
                <a:moveTo>
                  <a:pt x="0" y="0"/>
                </a:moveTo>
                <a:lnTo>
                  <a:pt x="3841583" y="0"/>
                </a:lnTo>
                <a:lnTo>
                  <a:pt x="3841583" y="2650229"/>
                </a:lnTo>
                <a:lnTo>
                  <a:pt x="0" y="2650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7743089">
            <a:off x="-258227" y="6018887"/>
            <a:ext cx="2935628" cy="1515852"/>
          </a:xfrm>
          <a:custGeom>
            <a:avLst/>
            <a:gdLst/>
            <a:ahLst/>
            <a:cxnLst/>
            <a:rect l="l" t="t" r="r" b="b"/>
            <a:pathLst>
              <a:path w="2935628" h="1515852">
                <a:moveTo>
                  <a:pt x="0" y="0"/>
                </a:moveTo>
                <a:lnTo>
                  <a:pt x="2935628" y="0"/>
                </a:lnTo>
                <a:lnTo>
                  <a:pt x="2935628" y="1515852"/>
                </a:lnTo>
                <a:lnTo>
                  <a:pt x="0" y="1515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19397" y="2214566"/>
            <a:ext cx="1503131" cy="2796464"/>
          </a:xfrm>
          <a:custGeom>
            <a:avLst/>
            <a:gdLst/>
            <a:ahLst/>
            <a:cxnLst/>
            <a:rect l="l" t="t" r="r" b="b"/>
            <a:pathLst>
              <a:path w="1503131" h="2796464">
                <a:moveTo>
                  <a:pt x="0" y="0"/>
                </a:moveTo>
                <a:lnTo>
                  <a:pt x="1503131" y="0"/>
                </a:lnTo>
                <a:lnTo>
                  <a:pt x="1503131" y="2796464"/>
                </a:lnTo>
                <a:lnTo>
                  <a:pt x="0" y="2796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7781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519185" y="5171433"/>
            <a:ext cx="10351367" cy="340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2843" lvl="1" indent="-396422" algn="l">
              <a:lnSpc>
                <a:spcPts val="4590"/>
              </a:lnSpc>
              <a:buFont typeface="Arial"/>
              <a:buChar char="•"/>
            </a:pPr>
            <a:r>
              <a:rPr lang="en-US" sz="3672" b="1" spc="2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Energy savings: $2.17M/year</a:t>
            </a:r>
          </a:p>
          <a:p>
            <a:pPr marL="792843" lvl="1" indent="-396422" algn="l">
              <a:lnSpc>
                <a:spcPts val="4590"/>
              </a:lnSpc>
              <a:buFont typeface="Arial"/>
              <a:buChar char="•"/>
            </a:pPr>
            <a:r>
              <a:rPr lang="en-US" sz="3672" b="1" spc="2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Carbon credits: $0.38–0.62M/year</a:t>
            </a:r>
          </a:p>
          <a:p>
            <a:pPr marL="792843" lvl="1" indent="-396422" algn="l">
              <a:lnSpc>
                <a:spcPts val="4590"/>
              </a:lnSpc>
              <a:buFont typeface="Arial"/>
              <a:buChar char="•"/>
            </a:pPr>
            <a:r>
              <a:rPr lang="en-US" sz="3672" b="1" spc="2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Net cash flow: $1.55–1.79M/year</a:t>
            </a:r>
          </a:p>
          <a:p>
            <a:pPr marL="792843" lvl="1" indent="-396422" algn="l">
              <a:lnSpc>
                <a:spcPts val="4590"/>
              </a:lnSpc>
              <a:buFont typeface="Arial"/>
              <a:buChar char="•"/>
            </a:pPr>
            <a:r>
              <a:rPr lang="en-US" sz="3672" b="1" spc="2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Payback: 6.4–9.5 years</a:t>
            </a:r>
          </a:p>
          <a:p>
            <a:pPr marL="792843" lvl="1" indent="-396422" algn="l">
              <a:lnSpc>
                <a:spcPts val="4590"/>
              </a:lnSpc>
              <a:buFont typeface="Arial"/>
              <a:buChar char="•"/>
            </a:pPr>
            <a:r>
              <a:rPr lang="en-US" sz="3672" b="1" spc="2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IRR: 11.8%</a:t>
            </a:r>
          </a:p>
          <a:p>
            <a:pPr algn="l">
              <a:lnSpc>
                <a:spcPts val="4090"/>
              </a:lnSpc>
            </a:pPr>
            <a:endParaRPr lang="en-US" sz="3672" b="1" spc="257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168350" y="2490753"/>
            <a:ext cx="12225281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FINANCIALS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10344" y="1028700"/>
            <a:ext cx="21801643" cy="8229600"/>
          </a:xfrm>
          <a:prstGeom prst="rect">
            <a:avLst/>
          </a:prstGeom>
          <a:solidFill>
            <a:srgbClr val="414B3B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03153" y="679543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430119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130" y="4545176"/>
            <a:ext cx="990574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4208534" y="4983326"/>
            <a:ext cx="9905741" cy="3302996"/>
            <a:chOff x="0" y="0"/>
            <a:chExt cx="2608919" cy="8699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08919" cy="869925"/>
            </a:xfrm>
            <a:custGeom>
              <a:avLst/>
              <a:gdLst/>
              <a:ahLst/>
              <a:cxnLst/>
              <a:rect l="l" t="t" r="r" b="b"/>
              <a:pathLst>
                <a:path w="2608919" h="869925">
                  <a:moveTo>
                    <a:pt x="0" y="0"/>
                  </a:moveTo>
                  <a:lnTo>
                    <a:pt x="2608919" y="0"/>
                  </a:lnTo>
                  <a:lnTo>
                    <a:pt x="2608919" y="869925"/>
                  </a:lnTo>
                  <a:lnTo>
                    <a:pt x="0" y="869925"/>
                  </a:lnTo>
                  <a:close/>
                </a:path>
              </a:pathLst>
            </a:custGeom>
            <a:solidFill>
              <a:srgbClr val="8CA87C"/>
            </a:solidFill>
            <a:ln w="66675" cap="sq">
              <a:solidFill>
                <a:srgbClr val="8CA87C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608919" cy="9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08534" y="2734776"/>
            <a:ext cx="9905741" cy="1651498"/>
            <a:chOff x="0" y="0"/>
            <a:chExt cx="2608919" cy="4349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08919" cy="434962"/>
            </a:xfrm>
            <a:custGeom>
              <a:avLst/>
              <a:gdLst/>
              <a:ahLst/>
              <a:cxnLst/>
              <a:rect l="l" t="t" r="r" b="b"/>
              <a:pathLst>
                <a:path w="2608919" h="434962">
                  <a:moveTo>
                    <a:pt x="0" y="0"/>
                  </a:moveTo>
                  <a:lnTo>
                    <a:pt x="2608919" y="0"/>
                  </a:lnTo>
                  <a:lnTo>
                    <a:pt x="2608919" y="434962"/>
                  </a:lnTo>
                  <a:lnTo>
                    <a:pt x="0" y="434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608919" cy="473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2812578" y="1304260"/>
            <a:ext cx="3841583" cy="2650228"/>
          </a:xfrm>
          <a:custGeom>
            <a:avLst/>
            <a:gdLst/>
            <a:ahLst/>
            <a:cxnLst/>
            <a:rect l="l" t="t" r="r" b="b"/>
            <a:pathLst>
              <a:path w="3841583" h="2650228">
                <a:moveTo>
                  <a:pt x="0" y="0"/>
                </a:moveTo>
                <a:lnTo>
                  <a:pt x="3841583" y="0"/>
                </a:lnTo>
                <a:lnTo>
                  <a:pt x="3841583" y="2650229"/>
                </a:lnTo>
                <a:lnTo>
                  <a:pt x="0" y="2650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5400000" flipV="1">
            <a:off x="12750572" y="6121929"/>
            <a:ext cx="3841583" cy="2650228"/>
          </a:xfrm>
          <a:custGeom>
            <a:avLst/>
            <a:gdLst/>
            <a:ahLst/>
            <a:cxnLst/>
            <a:rect l="l" t="t" r="r" b="b"/>
            <a:pathLst>
              <a:path w="3841583" h="2650228">
                <a:moveTo>
                  <a:pt x="0" y="2650228"/>
                </a:moveTo>
                <a:lnTo>
                  <a:pt x="3841583" y="2650228"/>
                </a:lnTo>
                <a:lnTo>
                  <a:pt x="3841583" y="0"/>
                </a:lnTo>
                <a:lnTo>
                  <a:pt x="0" y="0"/>
                </a:lnTo>
                <a:lnTo>
                  <a:pt x="0" y="26502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733369" y="5199565"/>
            <a:ext cx="8142757" cy="286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086" lvl="1" indent="-286043" algn="l">
              <a:lnSpc>
                <a:spcPts val="3312"/>
              </a:lnSpc>
              <a:buFont typeface="Arial"/>
              <a:buChar char="•"/>
            </a:pPr>
            <a:r>
              <a:rPr lang="en-US" sz="2649" b="1" spc="185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Proceed to detailed engineering design phase</a:t>
            </a:r>
          </a:p>
          <a:p>
            <a:pPr marL="572086" lvl="1" indent="-286043" algn="l">
              <a:lnSpc>
                <a:spcPts val="3312"/>
              </a:lnSpc>
              <a:buFont typeface="Arial"/>
              <a:buChar char="•"/>
            </a:pPr>
            <a:r>
              <a:rPr lang="en-US" sz="2649" b="1" spc="185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Conduct waste characterization testing</a:t>
            </a:r>
          </a:p>
          <a:p>
            <a:pPr marL="572086" lvl="1" indent="-286043" algn="l">
              <a:lnSpc>
                <a:spcPts val="3312"/>
              </a:lnSpc>
              <a:buFont typeface="Arial"/>
              <a:buChar char="•"/>
            </a:pPr>
            <a:r>
              <a:rPr lang="en-US" sz="2649" b="1" spc="185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carbon credit revenue contracts</a:t>
            </a:r>
          </a:p>
          <a:p>
            <a:pPr marL="572086" lvl="1" indent="-286043" algn="l">
              <a:lnSpc>
                <a:spcPts val="3312"/>
              </a:lnSpc>
              <a:buFont typeface="Arial"/>
              <a:buChar char="•"/>
            </a:pPr>
            <a:r>
              <a:rPr lang="en-US" sz="2649" b="1" spc="185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Partner with farms for digestate reuse</a:t>
            </a:r>
          </a:p>
          <a:p>
            <a:pPr marL="572086" lvl="1" indent="-286043" algn="l">
              <a:lnSpc>
                <a:spcPts val="3312"/>
              </a:lnSpc>
              <a:buFont typeface="Arial"/>
              <a:buChar char="•"/>
            </a:pPr>
            <a:r>
              <a:rPr lang="en-US" sz="2649" b="1" spc="185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Begin MOECC permitting early</a:t>
            </a:r>
          </a:p>
          <a:p>
            <a:pPr algn="l">
              <a:lnSpc>
                <a:spcPts val="2812"/>
              </a:lnSpc>
            </a:pPr>
            <a:endParaRPr lang="en-US" sz="2649" b="1" spc="185">
              <a:solidFill>
                <a:srgbClr val="FFF9F3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031360" y="3224300"/>
            <a:ext cx="12225281" cy="717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5200" b="1" spc="364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RECOMMENDATIONS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10344" y="1028700"/>
            <a:ext cx="21801643" cy="8229600"/>
          </a:xfrm>
          <a:prstGeom prst="rect">
            <a:avLst/>
          </a:prstGeom>
          <a:solidFill>
            <a:srgbClr val="414B3B"/>
          </a:solidFill>
        </p:spPr>
      </p:sp>
      <p:grpSp>
        <p:nvGrpSpPr>
          <p:cNvPr id="3" name="Group 3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1364" y="7082715"/>
            <a:ext cx="4611861" cy="46118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03153" y="6795439"/>
            <a:ext cx="1748282" cy="17482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6821" y="430119"/>
            <a:ext cx="1748282" cy="17482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A87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130" y="4545176"/>
            <a:ext cx="9905741" cy="0"/>
          </a:xfrm>
          <a:prstGeom prst="line">
            <a:avLst/>
          </a:prstGeom>
          <a:ln w="47625" cap="flat">
            <a:solidFill>
              <a:srgbClr val="FFF9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4191130" y="2734776"/>
            <a:ext cx="9905741" cy="1629799"/>
            <a:chOff x="0" y="0"/>
            <a:chExt cx="2608919" cy="4292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08919" cy="429248"/>
            </a:xfrm>
            <a:custGeom>
              <a:avLst/>
              <a:gdLst/>
              <a:ahLst/>
              <a:cxnLst/>
              <a:rect l="l" t="t" r="r" b="b"/>
              <a:pathLst>
                <a:path w="2608919" h="429248">
                  <a:moveTo>
                    <a:pt x="0" y="0"/>
                  </a:moveTo>
                  <a:lnTo>
                    <a:pt x="2608919" y="0"/>
                  </a:lnTo>
                  <a:lnTo>
                    <a:pt x="2608919" y="429248"/>
                  </a:lnTo>
                  <a:lnTo>
                    <a:pt x="0" y="429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CA87C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608919" cy="467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92993" y="4964276"/>
            <a:ext cx="10994969" cy="386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749"/>
              </a:lnSpc>
              <a:buFont typeface="Arial"/>
              <a:buChar char="•"/>
            </a:pPr>
            <a:r>
              <a:rPr lang="en-US" sz="2999" b="1" spc="209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The system converts 60 t/day waste into renewable energy effectively.</a:t>
            </a:r>
          </a:p>
          <a:p>
            <a:pPr marL="647700" lvl="1" indent="-323850" algn="just">
              <a:lnSpc>
                <a:spcPts val="3749"/>
              </a:lnSpc>
              <a:buFont typeface="Arial"/>
              <a:buChar char="•"/>
            </a:pPr>
            <a:r>
              <a:rPr lang="en-US" sz="2999" b="1" spc="209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Delivers 15,000 kWh electricity + 37,000 kWh heat/day reliably.</a:t>
            </a:r>
          </a:p>
          <a:p>
            <a:pPr marL="647700" lvl="1" indent="-323850" algn="just">
              <a:lnSpc>
                <a:spcPts val="3749"/>
              </a:lnSpc>
              <a:buFont typeface="Arial"/>
              <a:buChar char="•"/>
            </a:pPr>
            <a:r>
              <a:rPr lang="en-US" sz="2999" b="1" spc="209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Achieves 47% emission reduction and strong financial returns.</a:t>
            </a:r>
          </a:p>
          <a:p>
            <a:pPr marL="647700" lvl="1" indent="-323850" algn="just">
              <a:lnSpc>
                <a:spcPts val="3749"/>
              </a:lnSpc>
              <a:buFont typeface="Arial"/>
              <a:buChar char="•"/>
            </a:pPr>
            <a:r>
              <a:rPr lang="en-US" sz="2999" b="1" spc="209">
                <a:solidFill>
                  <a:srgbClr val="FFF9F3"/>
                </a:solidFill>
                <a:latin typeface="DM Sans Bold"/>
                <a:ea typeface="DM Sans Bold"/>
                <a:cs typeface="DM Sans Bold"/>
                <a:sym typeface="DM Sans Bold"/>
              </a:rPr>
              <a:t>Provides a scalable, future-proof circular energy model for the food processing industry.</a:t>
            </a:r>
          </a:p>
          <a:p>
            <a:pPr algn="just">
              <a:lnSpc>
                <a:spcPts val="750"/>
              </a:lnSpc>
            </a:pPr>
            <a:endParaRPr lang="en-US" sz="2999" b="1" spc="209">
              <a:solidFill>
                <a:srgbClr val="FFF9F3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31360" y="3036278"/>
            <a:ext cx="12225281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0706" y="1358674"/>
            <a:ext cx="15666589" cy="7569653"/>
          </a:xfrm>
          <a:prstGeom prst="rect">
            <a:avLst/>
          </a:prstGeom>
          <a:solidFill>
            <a:srgbClr val="2B3425"/>
          </a:solidFill>
        </p:spPr>
      </p:sp>
      <p:sp>
        <p:nvSpPr>
          <p:cNvPr id="3" name="TextBox 3"/>
          <p:cNvSpPr txBox="1"/>
          <p:nvPr/>
        </p:nvSpPr>
        <p:spPr>
          <a:xfrm>
            <a:off x="2197316" y="4630102"/>
            <a:ext cx="13893369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 spc="560">
                <a:solidFill>
                  <a:srgbClr val="FFF9F3"/>
                </a:solidFill>
                <a:latin typeface="Oswald Bold"/>
                <a:ea typeface="Oswald Bold"/>
                <a:cs typeface="Oswald Bold"/>
                <a:sym typeface="Oswald Bold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704225" y="6928775"/>
            <a:ext cx="3872575" cy="3872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323013" y="-907587"/>
            <a:ext cx="3872575" cy="3872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943431" y="7206251"/>
            <a:ext cx="4611861" cy="461186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A27A2D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591049" y="7919975"/>
            <a:ext cx="1748282" cy="17482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7A2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6821" y="569552"/>
            <a:ext cx="1748282" cy="174828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7A2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1373" y="6054634"/>
            <a:ext cx="1748282" cy="174828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870552" y="1860635"/>
            <a:ext cx="1748282" cy="174828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34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204537" y="1921855"/>
            <a:ext cx="1878926" cy="1296459"/>
          </a:xfrm>
          <a:custGeom>
            <a:avLst/>
            <a:gdLst/>
            <a:ahLst/>
            <a:cxnLst/>
            <a:rect l="l" t="t" r="r" b="b"/>
            <a:pathLst>
              <a:path w="1878926" h="1296459">
                <a:moveTo>
                  <a:pt x="0" y="0"/>
                </a:moveTo>
                <a:lnTo>
                  <a:pt x="1878926" y="0"/>
                </a:lnTo>
                <a:lnTo>
                  <a:pt x="1878926" y="1296458"/>
                </a:lnTo>
                <a:lnTo>
                  <a:pt x="0" y="1296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 flipV="1">
            <a:off x="8204537" y="7068687"/>
            <a:ext cx="1878926" cy="1296459"/>
          </a:xfrm>
          <a:custGeom>
            <a:avLst/>
            <a:gdLst/>
            <a:ahLst/>
            <a:cxnLst/>
            <a:rect l="l" t="t" r="r" b="b"/>
            <a:pathLst>
              <a:path w="1878926" h="1296459">
                <a:moveTo>
                  <a:pt x="1878926" y="1296458"/>
                </a:moveTo>
                <a:lnTo>
                  <a:pt x="0" y="1296458"/>
                </a:lnTo>
                <a:lnTo>
                  <a:pt x="0" y="0"/>
                </a:lnTo>
                <a:lnTo>
                  <a:pt x="1878926" y="0"/>
                </a:lnTo>
                <a:lnTo>
                  <a:pt x="1878926" y="12964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625</Words>
  <Application>Microsoft Office PowerPoint</Application>
  <PresentationFormat>Custom</PresentationFormat>
  <Paragraphs>129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Calibri</vt:lpstr>
      <vt:lpstr>DM Sans Bold</vt:lpstr>
      <vt:lpstr>Arial</vt:lpstr>
      <vt:lpstr>DM Sans</vt:lpstr>
      <vt:lpstr>Aristotelica Pro</vt:lpstr>
      <vt:lpstr>Oswald Bold</vt:lpstr>
      <vt:lpstr>Aristotelica Pro Bold</vt:lpstr>
      <vt:lpstr>Open Sans Bold</vt:lpstr>
      <vt:lpstr>Garet Bold</vt:lpstr>
      <vt:lpstr>Ballpoint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ERGY8031-1 CAPSTONE - Applied Energy Management</dc:title>
  <dc:creator>Chandrika Solleti</dc:creator>
  <cp:lastModifiedBy>Chandrika Solleti</cp:lastModifiedBy>
  <cp:revision>3</cp:revision>
  <dcterms:created xsi:type="dcterms:W3CDTF">2006-08-16T00:00:00Z</dcterms:created>
  <dcterms:modified xsi:type="dcterms:W3CDTF">2025-12-11T20:59:01Z</dcterms:modified>
  <dc:identifier>DAG5Lv1RsX4</dc:identifier>
</cp:coreProperties>
</file>